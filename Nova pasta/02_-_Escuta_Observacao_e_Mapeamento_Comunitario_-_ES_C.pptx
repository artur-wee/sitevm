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sldIdLst>
    <p:sldId id="535" r:id="rId6"/>
    <p:sldId id="536" r:id="rId7"/>
    <p:sldId id="538" r:id="rId8"/>
    <p:sldId id="539" r:id="rId9"/>
    <p:sldId id="544" r:id="rId10"/>
    <p:sldId id="541" r:id="rId11"/>
    <p:sldId id="542" r:id="rId12"/>
    <p:sldId id="547" r:id="rId13"/>
    <p:sldId id="551" r:id="rId14"/>
    <p:sldId id="528" r:id="rId15"/>
    <p:sldId id="550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77267D1-F015-483B-ACCA-FC31AED2BD92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39F523B-FDD8-4A63-83AF-E3E98D072ABC}">
      <dgm:prSet/>
      <dgm:spPr/>
      <dgm:t>
        <a:bodyPr/>
        <a:lstStyle/>
        <a:p>
          <a:pPr>
            <a:defRPr b="1"/>
          </a:pPr>
          <a:r>
            <a:rPr lang="pt-BR" b="1" dirty="0"/>
            <a:t>Desenvolvimento de habilidades:</a:t>
          </a:r>
          <a:endParaRPr lang="en-US" dirty="0"/>
        </a:p>
      </dgm:t>
    </dgm:pt>
    <dgm:pt modelId="{2B1BBEA3-C325-4A32-BFC6-00D9F069605F}" type="parTrans" cxnId="{2ADEC322-89F6-43DD-B559-A25CD0CFE843}">
      <dgm:prSet/>
      <dgm:spPr/>
      <dgm:t>
        <a:bodyPr/>
        <a:lstStyle/>
        <a:p>
          <a:endParaRPr lang="en-US"/>
        </a:p>
      </dgm:t>
    </dgm:pt>
    <dgm:pt modelId="{61C69B3B-BE06-4814-A7C7-0C0946BB9BA0}" type="sibTrans" cxnId="{2ADEC322-89F6-43DD-B559-A25CD0CFE843}">
      <dgm:prSet/>
      <dgm:spPr/>
      <dgm:t>
        <a:bodyPr/>
        <a:lstStyle/>
        <a:p>
          <a:endParaRPr lang="en-US"/>
        </a:p>
      </dgm:t>
    </dgm:pt>
    <dgm:pt modelId="{ED8FA7CA-5A29-4EC9-9C40-D8A68F11CBA1}">
      <dgm:prSet custT="1"/>
      <dgm:spPr/>
      <dgm:t>
        <a:bodyPr/>
        <a:lstStyle/>
        <a:p>
          <a:r>
            <a:rPr lang="pt-BR" sz="1600" dirty="0"/>
            <a:t>A participação em projetos de extensão, como a mediação, contribui para o desenvolvimento de habilidades socioemocionais importantes, como comunicação, escuta ativa e resolução de conflitos. </a:t>
          </a:r>
          <a:endParaRPr lang="en-US" sz="1600" dirty="0"/>
        </a:p>
      </dgm:t>
    </dgm:pt>
    <dgm:pt modelId="{02977D7D-7B63-4306-B591-32D7408E9972}" type="parTrans" cxnId="{D1837675-5D20-4AB1-8310-341F9C79A5E4}">
      <dgm:prSet/>
      <dgm:spPr/>
      <dgm:t>
        <a:bodyPr/>
        <a:lstStyle/>
        <a:p>
          <a:endParaRPr lang="en-US"/>
        </a:p>
      </dgm:t>
    </dgm:pt>
    <dgm:pt modelId="{B5DC4109-1107-4470-A4E8-182930F9803B}" type="sibTrans" cxnId="{D1837675-5D20-4AB1-8310-341F9C79A5E4}">
      <dgm:prSet/>
      <dgm:spPr/>
      <dgm:t>
        <a:bodyPr/>
        <a:lstStyle/>
        <a:p>
          <a:endParaRPr lang="en-US"/>
        </a:p>
      </dgm:t>
    </dgm:pt>
    <dgm:pt modelId="{D441F7F9-B49D-4EF5-86C4-7FF3FAE2F9A6}">
      <dgm:prSet/>
      <dgm:spPr/>
      <dgm:t>
        <a:bodyPr/>
        <a:lstStyle/>
        <a:p>
          <a:pPr>
            <a:defRPr b="1"/>
          </a:pPr>
          <a:r>
            <a:rPr lang="pt-BR" b="1"/>
            <a:t>Impacto social:</a:t>
          </a:r>
          <a:endParaRPr lang="en-US"/>
        </a:p>
      </dgm:t>
    </dgm:pt>
    <dgm:pt modelId="{3B80F5B9-C53B-48B5-8EFF-09884A7B09E4}" type="parTrans" cxnId="{C359AB36-6DF7-48C7-9A5F-9605045FF853}">
      <dgm:prSet/>
      <dgm:spPr/>
      <dgm:t>
        <a:bodyPr/>
        <a:lstStyle/>
        <a:p>
          <a:endParaRPr lang="en-US"/>
        </a:p>
      </dgm:t>
    </dgm:pt>
    <dgm:pt modelId="{54CD5B67-B2BC-472A-89A5-0A7B86CFA7B3}" type="sibTrans" cxnId="{C359AB36-6DF7-48C7-9A5F-9605045FF853}">
      <dgm:prSet/>
      <dgm:spPr/>
      <dgm:t>
        <a:bodyPr/>
        <a:lstStyle/>
        <a:p>
          <a:endParaRPr lang="en-US"/>
        </a:p>
      </dgm:t>
    </dgm:pt>
    <dgm:pt modelId="{2E5C0069-E3CD-40CA-B0FB-B95508AFBDA8}">
      <dgm:prSet custT="1"/>
      <dgm:spPr/>
      <dgm:t>
        <a:bodyPr/>
        <a:lstStyle/>
        <a:p>
          <a:r>
            <a:rPr lang="pt-BR" sz="1600" dirty="0"/>
            <a:t>O estudante extensionista, ao atuar como mediador, pode promover mudanças positivas na comunidade, contribuindo para a cultura de paz e a resolução pacífica de conflitos. </a:t>
          </a:r>
          <a:endParaRPr lang="en-US" sz="1600" dirty="0"/>
        </a:p>
      </dgm:t>
    </dgm:pt>
    <dgm:pt modelId="{48C89A86-21B2-4E2C-A224-44C058490516}" type="parTrans" cxnId="{262FBAD5-CDEC-4C71-9CCE-9245A2DB73F2}">
      <dgm:prSet/>
      <dgm:spPr/>
      <dgm:t>
        <a:bodyPr/>
        <a:lstStyle/>
        <a:p>
          <a:endParaRPr lang="en-US"/>
        </a:p>
      </dgm:t>
    </dgm:pt>
    <dgm:pt modelId="{374F0760-17A5-4DA3-BCDA-57786750B388}" type="sibTrans" cxnId="{262FBAD5-CDEC-4C71-9CCE-9245A2DB73F2}">
      <dgm:prSet/>
      <dgm:spPr/>
      <dgm:t>
        <a:bodyPr/>
        <a:lstStyle/>
        <a:p>
          <a:endParaRPr lang="en-US"/>
        </a:p>
      </dgm:t>
    </dgm:pt>
    <dgm:pt modelId="{B1FF3E61-015E-478A-9381-6CAE8E049F65}">
      <dgm:prSet/>
      <dgm:spPr/>
      <dgm:t>
        <a:bodyPr/>
        <a:lstStyle/>
        <a:p>
          <a:pPr>
            <a:defRPr b="1"/>
          </a:pPr>
          <a:r>
            <a:rPr lang="pt-BR" b="1"/>
            <a:t>Formação cidadã:</a:t>
          </a:r>
          <a:endParaRPr lang="en-US"/>
        </a:p>
      </dgm:t>
    </dgm:pt>
    <dgm:pt modelId="{6B782697-37F0-40EC-AD95-014E93E07F8B}" type="parTrans" cxnId="{6491EB8D-4E4D-43F5-B1E6-4EDE91FB3293}">
      <dgm:prSet/>
      <dgm:spPr/>
      <dgm:t>
        <a:bodyPr/>
        <a:lstStyle/>
        <a:p>
          <a:endParaRPr lang="en-US"/>
        </a:p>
      </dgm:t>
    </dgm:pt>
    <dgm:pt modelId="{F27FA61C-C7D6-40D1-89A6-DF0EE9861A5B}" type="sibTrans" cxnId="{6491EB8D-4E4D-43F5-B1E6-4EDE91FB3293}">
      <dgm:prSet/>
      <dgm:spPr/>
      <dgm:t>
        <a:bodyPr/>
        <a:lstStyle/>
        <a:p>
          <a:endParaRPr lang="en-US"/>
        </a:p>
      </dgm:t>
    </dgm:pt>
    <dgm:pt modelId="{A5BB9C4D-0077-4500-8B61-2173F52E3378}">
      <dgm:prSet custT="1"/>
      <dgm:spPr/>
      <dgm:t>
        <a:bodyPr/>
        <a:lstStyle/>
        <a:p>
          <a:r>
            <a:rPr lang="pt-BR" sz="1600" dirty="0"/>
            <a:t>A experiência na mediação contribui para a formação de cidadãos mais conscientes, responsáveis e capazes de lidar com os desafios da vida em sociedade. </a:t>
          </a:r>
          <a:endParaRPr lang="en-US" sz="1600" dirty="0"/>
        </a:p>
      </dgm:t>
    </dgm:pt>
    <dgm:pt modelId="{D4E89B94-34B3-4ABB-AAD0-E57229BEC3F7}" type="parTrans" cxnId="{28C7F529-11C8-46FA-B694-5F6550E233CB}">
      <dgm:prSet/>
      <dgm:spPr/>
      <dgm:t>
        <a:bodyPr/>
        <a:lstStyle/>
        <a:p>
          <a:endParaRPr lang="en-US"/>
        </a:p>
      </dgm:t>
    </dgm:pt>
    <dgm:pt modelId="{3D84CF64-4CF1-446B-8982-9B451CA4DB38}" type="sibTrans" cxnId="{28C7F529-11C8-46FA-B694-5F6550E233CB}">
      <dgm:prSet/>
      <dgm:spPr/>
      <dgm:t>
        <a:bodyPr/>
        <a:lstStyle/>
        <a:p>
          <a:endParaRPr lang="en-US"/>
        </a:p>
      </dgm:t>
    </dgm:pt>
    <dgm:pt modelId="{4370D9D2-5803-41B6-8273-7A7D29E6D5B2}" type="pres">
      <dgm:prSet presAssocID="{F77267D1-F015-483B-ACCA-FC31AED2BD92}" presName="root" presStyleCnt="0">
        <dgm:presLayoutVars>
          <dgm:dir/>
          <dgm:resizeHandles val="exact"/>
        </dgm:presLayoutVars>
      </dgm:prSet>
      <dgm:spPr/>
    </dgm:pt>
    <dgm:pt modelId="{BF63434D-8D42-4B86-A0D3-DA3AAE4E66EB}" type="pres">
      <dgm:prSet presAssocID="{239F523B-FDD8-4A63-83AF-E3E98D072ABC}" presName="compNode" presStyleCnt="0"/>
      <dgm:spPr/>
    </dgm:pt>
    <dgm:pt modelId="{8E7B87FF-7488-4F64-908E-0CFC242CC33B}" type="pres">
      <dgm:prSet presAssocID="{239F523B-FDD8-4A63-83AF-E3E98D072AB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5EC20902-CBB2-453D-80FE-8B748D00ADD0}" type="pres">
      <dgm:prSet presAssocID="{239F523B-FDD8-4A63-83AF-E3E98D072ABC}" presName="iconSpace" presStyleCnt="0"/>
      <dgm:spPr/>
    </dgm:pt>
    <dgm:pt modelId="{85397265-A3A4-423D-A43B-8499681D21A2}" type="pres">
      <dgm:prSet presAssocID="{239F523B-FDD8-4A63-83AF-E3E98D072ABC}" presName="parTx" presStyleLbl="revTx" presStyleIdx="0" presStyleCnt="6">
        <dgm:presLayoutVars>
          <dgm:chMax val="0"/>
          <dgm:chPref val="0"/>
        </dgm:presLayoutVars>
      </dgm:prSet>
      <dgm:spPr/>
    </dgm:pt>
    <dgm:pt modelId="{EB6F7BBB-4F70-4221-A516-8B9269A7C3CB}" type="pres">
      <dgm:prSet presAssocID="{239F523B-FDD8-4A63-83AF-E3E98D072ABC}" presName="txSpace" presStyleCnt="0"/>
      <dgm:spPr/>
    </dgm:pt>
    <dgm:pt modelId="{36F8BF32-7245-4AC9-8B9B-D8B0085EBAB7}" type="pres">
      <dgm:prSet presAssocID="{239F523B-FDD8-4A63-83AF-E3E98D072ABC}" presName="desTx" presStyleLbl="revTx" presStyleIdx="1" presStyleCnt="6">
        <dgm:presLayoutVars/>
      </dgm:prSet>
      <dgm:spPr/>
    </dgm:pt>
    <dgm:pt modelId="{EE9C769D-0928-48FA-BBC1-8B1784CA9BEC}" type="pres">
      <dgm:prSet presAssocID="{61C69B3B-BE06-4814-A7C7-0C0946BB9BA0}" presName="sibTrans" presStyleCnt="0"/>
      <dgm:spPr/>
    </dgm:pt>
    <dgm:pt modelId="{1876C629-7428-409A-86FE-9DBA21601FFD}" type="pres">
      <dgm:prSet presAssocID="{D441F7F9-B49D-4EF5-86C4-7FF3FAE2F9A6}" presName="compNode" presStyleCnt="0"/>
      <dgm:spPr/>
    </dgm:pt>
    <dgm:pt modelId="{774A4C75-CC90-430D-810F-A056DCB0810E}" type="pres">
      <dgm:prSet presAssocID="{D441F7F9-B49D-4EF5-86C4-7FF3FAE2F9A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upo"/>
        </a:ext>
      </dgm:extLst>
    </dgm:pt>
    <dgm:pt modelId="{CCEFDCE9-2E49-4F53-98DE-605678557852}" type="pres">
      <dgm:prSet presAssocID="{D441F7F9-B49D-4EF5-86C4-7FF3FAE2F9A6}" presName="iconSpace" presStyleCnt="0"/>
      <dgm:spPr/>
    </dgm:pt>
    <dgm:pt modelId="{B5DC0B2F-BCBB-4EAA-8F98-2DDB8DE96700}" type="pres">
      <dgm:prSet presAssocID="{D441F7F9-B49D-4EF5-86C4-7FF3FAE2F9A6}" presName="parTx" presStyleLbl="revTx" presStyleIdx="2" presStyleCnt="6">
        <dgm:presLayoutVars>
          <dgm:chMax val="0"/>
          <dgm:chPref val="0"/>
        </dgm:presLayoutVars>
      </dgm:prSet>
      <dgm:spPr/>
    </dgm:pt>
    <dgm:pt modelId="{1ADB1F68-FA22-41D2-BD84-94C423D5D6E9}" type="pres">
      <dgm:prSet presAssocID="{D441F7F9-B49D-4EF5-86C4-7FF3FAE2F9A6}" presName="txSpace" presStyleCnt="0"/>
      <dgm:spPr/>
    </dgm:pt>
    <dgm:pt modelId="{74703034-45AE-424D-B3D9-9509F5045E7D}" type="pres">
      <dgm:prSet presAssocID="{D441F7F9-B49D-4EF5-86C4-7FF3FAE2F9A6}" presName="desTx" presStyleLbl="revTx" presStyleIdx="3" presStyleCnt="6">
        <dgm:presLayoutVars/>
      </dgm:prSet>
      <dgm:spPr/>
    </dgm:pt>
    <dgm:pt modelId="{85F7CE2E-394E-4700-82D4-E05A48C36586}" type="pres">
      <dgm:prSet presAssocID="{54CD5B67-B2BC-472A-89A5-0A7B86CFA7B3}" presName="sibTrans" presStyleCnt="0"/>
      <dgm:spPr/>
    </dgm:pt>
    <dgm:pt modelId="{3B3E925C-FBCB-481C-B656-844D8E8C0E04}" type="pres">
      <dgm:prSet presAssocID="{B1FF3E61-015E-478A-9381-6CAE8E049F65}" presName="compNode" presStyleCnt="0"/>
      <dgm:spPr/>
    </dgm:pt>
    <dgm:pt modelId="{33FA8BE0-03D5-43A2-949C-BB7D1829642D}" type="pres">
      <dgm:prSet presAssocID="{B1FF3E61-015E-478A-9381-6CAE8E049F6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co"/>
        </a:ext>
      </dgm:extLst>
    </dgm:pt>
    <dgm:pt modelId="{21281CB3-E255-41A0-AC48-11CC9BFD824E}" type="pres">
      <dgm:prSet presAssocID="{B1FF3E61-015E-478A-9381-6CAE8E049F65}" presName="iconSpace" presStyleCnt="0"/>
      <dgm:spPr/>
    </dgm:pt>
    <dgm:pt modelId="{72E8881F-70A2-48D7-A22B-3CF24CF1F119}" type="pres">
      <dgm:prSet presAssocID="{B1FF3E61-015E-478A-9381-6CAE8E049F65}" presName="parTx" presStyleLbl="revTx" presStyleIdx="4" presStyleCnt="6">
        <dgm:presLayoutVars>
          <dgm:chMax val="0"/>
          <dgm:chPref val="0"/>
        </dgm:presLayoutVars>
      </dgm:prSet>
      <dgm:spPr/>
    </dgm:pt>
    <dgm:pt modelId="{79FAB976-FBD7-40BD-A92E-AE806ECDBA1C}" type="pres">
      <dgm:prSet presAssocID="{B1FF3E61-015E-478A-9381-6CAE8E049F65}" presName="txSpace" presStyleCnt="0"/>
      <dgm:spPr/>
    </dgm:pt>
    <dgm:pt modelId="{287B7B59-AB55-4694-AF18-DFC53EF71D77}" type="pres">
      <dgm:prSet presAssocID="{B1FF3E61-015E-478A-9381-6CAE8E049F65}" presName="desTx" presStyleLbl="revTx" presStyleIdx="5" presStyleCnt="6">
        <dgm:presLayoutVars/>
      </dgm:prSet>
      <dgm:spPr/>
    </dgm:pt>
  </dgm:ptLst>
  <dgm:cxnLst>
    <dgm:cxn modelId="{2ADEC322-89F6-43DD-B559-A25CD0CFE843}" srcId="{F77267D1-F015-483B-ACCA-FC31AED2BD92}" destId="{239F523B-FDD8-4A63-83AF-E3E98D072ABC}" srcOrd="0" destOrd="0" parTransId="{2B1BBEA3-C325-4A32-BFC6-00D9F069605F}" sibTransId="{61C69B3B-BE06-4814-A7C7-0C0946BB9BA0}"/>
    <dgm:cxn modelId="{28C7F529-11C8-46FA-B694-5F6550E233CB}" srcId="{B1FF3E61-015E-478A-9381-6CAE8E049F65}" destId="{A5BB9C4D-0077-4500-8B61-2173F52E3378}" srcOrd="0" destOrd="0" parTransId="{D4E89B94-34B3-4ABB-AAD0-E57229BEC3F7}" sibTransId="{3D84CF64-4CF1-446B-8982-9B451CA4DB38}"/>
    <dgm:cxn modelId="{C359AB36-6DF7-48C7-9A5F-9605045FF853}" srcId="{F77267D1-F015-483B-ACCA-FC31AED2BD92}" destId="{D441F7F9-B49D-4EF5-86C4-7FF3FAE2F9A6}" srcOrd="1" destOrd="0" parTransId="{3B80F5B9-C53B-48B5-8EFF-09884A7B09E4}" sibTransId="{54CD5B67-B2BC-472A-89A5-0A7B86CFA7B3}"/>
    <dgm:cxn modelId="{D1837675-5D20-4AB1-8310-341F9C79A5E4}" srcId="{239F523B-FDD8-4A63-83AF-E3E98D072ABC}" destId="{ED8FA7CA-5A29-4EC9-9C40-D8A68F11CBA1}" srcOrd="0" destOrd="0" parTransId="{02977D7D-7B63-4306-B591-32D7408E9972}" sibTransId="{B5DC4109-1107-4470-A4E8-182930F9803B}"/>
    <dgm:cxn modelId="{6491EB8D-4E4D-43F5-B1E6-4EDE91FB3293}" srcId="{F77267D1-F015-483B-ACCA-FC31AED2BD92}" destId="{B1FF3E61-015E-478A-9381-6CAE8E049F65}" srcOrd="2" destOrd="0" parTransId="{6B782697-37F0-40EC-AD95-014E93E07F8B}" sibTransId="{F27FA61C-C7D6-40D1-89A6-DF0EE9861A5B}"/>
    <dgm:cxn modelId="{33F20E98-83DD-4ACA-8905-39404668E50B}" type="presOf" srcId="{D441F7F9-B49D-4EF5-86C4-7FF3FAE2F9A6}" destId="{B5DC0B2F-BCBB-4EAA-8F98-2DDB8DE96700}" srcOrd="0" destOrd="0" presId="urn:microsoft.com/office/officeart/2018/5/layout/CenteredIconLabelDescriptionList"/>
    <dgm:cxn modelId="{3C64CCAD-28BD-478F-9399-D783FF7B3380}" type="presOf" srcId="{239F523B-FDD8-4A63-83AF-E3E98D072ABC}" destId="{85397265-A3A4-423D-A43B-8499681D21A2}" srcOrd="0" destOrd="0" presId="urn:microsoft.com/office/officeart/2018/5/layout/CenteredIconLabelDescriptionList"/>
    <dgm:cxn modelId="{907F96CA-B5DB-431E-BBA8-EDD89A26D6CC}" type="presOf" srcId="{B1FF3E61-015E-478A-9381-6CAE8E049F65}" destId="{72E8881F-70A2-48D7-A22B-3CF24CF1F119}" srcOrd="0" destOrd="0" presId="urn:microsoft.com/office/officeart/2018/5/layout/CenteredIconLabelDescriptionList"/>
    <dgm:cxn modelId="{3AF4C8D0-9414-47BE-94ED-76A9EDDD6AB1}" type="presOf" srcId="{F77267D1-F015-483B-ACCA-FC31AED2BD92}" destId="{4370D9D2-5803-41B6-8273-7A7D29E6D5B2}" srcOrd="0" destOrd="0" presId="urn:microsoft.com/office/officeart/2018/5/layout/CenteredIconLabelDescriptionList"/>
    <dgm:cxn modelId="{262FBAD5-CDEC-4C71-9CCE-9245A2DB73F2}" srcId="{D441F7F9-B49D-4EF5-86C4-7FF3FAE2F9A6}" destId="{2E5C0069-E3CD-40CA-B0FB-B95508AFBDA8}" srcOrd="0" destOrd="0" parTransId="{48C89A86-21B2-4E2C-A224-44C058490516}" sibTransId="{374F0760-17A5-4DA3-BCDA-57786750B388}"/>
    <dgm:cxn modelId="{E0C139D6-DE58-479A-BA3B-BE85F03C64EB}" type="presOf" srcId="{ED8FA7CA-5A29-4EC9-9C40-D8A68F11CBA1}" destId="{36F8BF32-7245-4AC9-8B9B-D8B0085EBAB7}" srcOrd="0" destOrd="0" presId="urn:microsoft.com/office/officeart/2018/5/layout/CenteredIconLabelDescriptionList"/>
    <dgm:cxn modelId="{B7277AEB-9E66-4CBA-BD71-1F7163E93BA0}" type="presOf" srcId="{2E5C0069-E3CD-40CA-B0FB-B95508AFBDA8}" destId="{74703034-45AE-424D-B3D9-9509F5045E7D}" srcOrd="0" destOrd="0" presId="urn:microsoft.com/office/officeart/2018/5/layout/CenteredIconLabelDescriptionList"/>
    <dgm:cxn modelId="{075B45FB-6936-4E4E-BE7E-217EE09C4879}" type="presOf" srcId="{A5BB9C4D-0077-4500-8B61-2173F52E3378}" destId="{287B7B59-AB55-4694-AF18-DFC53EF71D77}" srcOrd="0" destOrd="0" presId="urn:microsoft.com/office/officeart/2018/5/layout/CenteredIconLabelDescriptionList"/>
    <dgm:cxn modelId="{95D127AC-9C80-4D6D-9DD1-8119C25D75C0}" type="presParOf" srcId="{4370D9D2-5803-41B6-8273-7A7D29E6D5B2}" destId="{BF63434D-8D42-4B86-A0D3-DA3AAE4E66EB}" srcOrd="0" destOrd="0" presId="urn:microsoft.com/office/officeart/2018/5/layout/CenteredIconLabelDescriptionList"/>
    <dgm:cxn modelId="{EED72775-24A5-4069-A1D9-E97F581E4902}" type="presParOf" srcId="{BF63434D-8D42-4B86-A0D3-DA3AAE4E66EB}" destId="{8E7B87FF-7488-4F64-908E-0CFC242CC33B}" srcOrd="0" destOrd="0" presId="urn:microsoft.com/office/officeart/2018/5/layout/CenteredIconLabelDescriptionList"/>
    <dgm:cxn modelId="{BE8185E8-4980-4EBD-9103-C9587DB0C864}" type="presParOf" srcId="{BF63434D-8D42-4B86-A0D3-DA3AAE4E66EB}" destId="{5EC20902-CBB2-453D-80FE-8B748D00ADD0}" srcOrd="1" destOrd="0" presId="urn:microsoft.com/office/officeart/2018/5/layout/CenteredIconLabelDescriptionList"/>
    <dgm:cxn modelId="{560F230A-A544-4FD4-9AA2-949A1CD7D482}" type="presParOf" srcId="{BF63434D-8D42-4B86-A0D3-DA3AAE4E66EB}" destId="{85397265-A3A4-423D-A43B-8499681D21A2}" srcOrd="2" destOrd="0" presId="urn:microsoft.com/office/officeart/2018/5/layout/CenteredIconLabelDescriptionList"/>
    <dgm:cxn modelId="{C31A23D0-E176-4032-8FB0-AED78154BF70}" type="presParOf" srcId="{BF63434D-8D42-4B86-A0D3-DA3AAE4E66EB}" destId="{EB6F7BBB-4F70-4221-A516-8B9269A7C3CB}" srcOrd="3" destOrd="0" presId="urn:microsoft.com/office/officeart/2018/5/layout/CenteredIconLabelDescriptionList"/>
    <dgm:cxn modelId="{937A4955-659D-4BFD-BF80-27F3ED6534E9}" type="presParOf" srcId="{BF63434D-8D42-4B86-A0D3-DA3AAE4E66EB}" destId="{36F8BF32-7245-4AC9-8B9B-D8B0085EBAB7}" srcOrd="4" destOrd="0" presId="urn:microsoft.com/office/officeart/2018/5/layout/CenteredIconLabelDescriptionList"/>
    <dgm:cxn modelId="{FDFDF1E8-28A7-4907-9783-1287289800DE}" type="presParOf" srcId="{4370D9D2-5803-41B6-8273-7A7D29E6D5B2}" destId="{EE9C769D-0928-48FA-BBC1-8B1784CA9BEC}" srcOrd="1" destOrd="0" presId="urn:microsoft.com/office/officeart/2018/5/layout/CenteredIconLabelDescriptionList"/>
    <dgm:cxn modelId="{66DA1F7D-104A-4449-902A-78538D3EF0D8}" type="presParOf" srcId="{4370D9D2-5803-41B6-8273-7A7D29E6D5B2}" destId="{1876C629-7428-409A-86FE-9DBA21601FFD}" srcOrd="2" destOrd="0" presId="urn:microsoft.com/office/officeart/2018/5/layout/CenteredIconLabelDescriptionList"/>
    <dgm:cxn modelId="{E4E96AD4-D93D-4983-8DD6-1BDF04AB8AFF}" type="presParOf" srcId="{1876C629-7428-409A-86FE-9DBA21601FFD}" destId="{774A4C75-CC90-430D-810F-A056DCB0810E}" srcOrd="0" destOrd="0" presId="urn:microsoft.com/office/officeart/2018/5/layout/CenteredIconLabelDescriptionList"/>
    <dgm:cxn modelId="{CF33E568-67A7-4A0F-BBC3-BC825699A853}" type="presParOf" srcId="{1876C629-7428-409A-86FE-9DBA21601FFD}" destId="{CCEFDCE9-2E49-4F53-98DE-605678557852}" srcOrd="1" destOrd="0" presId="urn:microsoft.com/office/officeart/2018/5/layout/CenteredIconLabelDescriptionList"/>
    <dgm:cxn modelId="{DC21EED8-367E-4366-9370-9D472637B0F2}" type="presParOf" srcId="{1876C629-7428-409A-86FE-9DBA21601FFD}" destId="{B5DC0B2F-BCBB-4EAA-8F98-2DDB8DE96700}" srcOrd="2" destOrd="0" presId="urn:microsoft.com/office/officeart/2018/5/layout/CenteredIconLabelDescriptionList"/>
    <dgm:cxn modelId="{70766336-D9F1-4DCA-BB73-F746BBC6F20F}" type="presParOf" srcId="{1876C629-7428-409A-86FE-9DBA21601FFD}" destId="{1ADB1F68-FA22-41D2-BD84-94C423D5D6E9}" srcOrd="3" destOrd="0" presId="urn:microsoft.com/office/officeart/2018/5/layout/CenteredIconLabelDescriptionList"/>
    <dgm:cxn modelId="{BCEB6F61-F47E-4D06-B12A-74217A59317F}" type="presParOf" srcId="{1876C629-7428-409A-86FE-9DBA21601FFD}" destId="{74703034-45AE-424D-B3D9-9509F5045E7D}" srcOrd="4" destOrd="0" presId="urn:microsoft.com/office/officeart/2018/5/layout/CenteredIconLabelDescriptionList"/>
    <dgm:cxn modelId="{35986E92-3005-416E-80F4-DCA87529007F}" type="presParOf" srcId="{4370D9D2-5803-41B6-8273-7A7D29E6D5B2}" destId="{85F7CE2E-394E-4700-82D4-E05A48C36586}" srcOrd="3" destOrd="0" presId="urn:microsoft.com/office/officeart/2018/5/layout/CenteredIconLabelDescriptionList"/>
    <dgm:cxn modelId="{4C4CF211-EB60-4B8B-95E0-EA71E855C651}" type="presParOf" srcId="{4370D9D2-5803-41B6-8273-7A7D29E6D5B2}" destId="{3B3E925C-FBCB-481C-B656-844D8E8C0E04}" srcOrd="4" destOrd="0" presId="urn:microsoft.com/office/officeart/2018/5/layout/CenteredIconLabelDescriptionList"/>
    <dgm:cxn modelId="{501CF072-3E31-4943-9145-8169D707621C}" type="presParOf" srcId="{3B3E925C-FBCB-481C-B656-844D8E8C0E04}" destId="{33FA8BE0-03D5-43A2-949C-BB7D1829642D}" srcOrd="0" destOrd="0" presId="urn:microsoft.com/office/officeart/2018/5/layout/CenteredIconLabelDescriptionList"/>
    <dgm:cxn modelId="{06B95958-C134-4CAA-9C8A-46889B598F14}" type="presParOf" srcId="{3B3E925C-FBCB-481C-B656-844D8E8C0E04}" destId="{21281CB3-E255-41A0-AC48-11CC9BFD824E}" srcOrd="1" destOrd="0" presId="urn:microsoft.com/office/officeart/2018/5/layout/CenteredIconLabelDescriptionList"/>
    <dgm:cxn modelId="{5B8AD7E5-5E40-403A-B051-AA969F631AD8}" type="presParOf" srcId="{3B3E925C-FBCB-481C-B656-844D8E8C0E04}" destId="{72E8881F-70A2-48D7-A22B-3CF24CF1F119}" srcOrd="2" destOrd="0" presId="urn:microsoft.com/office/officeart/2018/5/layout/CenteredIconLabelDescriptionList"/>
    <dgm:cxn modelId="{9D56C403-1643-4148-8D12-254E2CC683BD}" type="presParOf" srcId="{3B3E925C-FBCB-481C-B656-844D8E8C0E04}" destId="{79FAB976-FBD7-40BD-A92E-AE806ECDBA1C}" srcOrd="3" destOrd="0" presId="urn:microsoft.com/office/officeart/2018/5/layout/CenteredIconLabelDescriptionList"/>
    <dgm:cxn modelId="{D42322E7-240D-44E6-BE32-4C7A5D049808}" type="presParOf" srcId="{3B3E925C-FBCB-481C-B656-844D8E8C0E04}" destId="{287B7B59-AB55-4694-AF18-DFC53EF71D77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00CCD7C-1A37-4ECB-AEED-DFD0F33471A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8167C474-2895-46F6-AFCD-2D2F6A672C7F}">
      <dgm:prSet/>
      <dgm:spPr/>
      <dgm:t>
        <a:bodyPr/>
        <a:lstStyle/>
        <a:p>
          <a:r>
            <a:rPr lang="pt-BR" b="1"/>
            <a:t>Compromisso com a comunidade:</a:t>
          </a:r>
          <a:endParaRPr lang="en-US"/>
        </a:p>
      </dgm:t>
    </dgm:pt>
    <dgm:pt modelId="{21F8D0F5-BB96-45D1-A974-C60E1BB6342F}" type="parTrans" cxnId="{5E62B518-0EF7-4B97-98AD-6D685F83075D}">
      <dgm:prSet/>
      <dgm:spPr/>
      <dgm:t>
        <a:bodyPr/>
        <a:lstStyle/>
        <a:p>
          <a:endParaRPr lang="en-US"/>
        </a:p>
      </dgm:t>
    </dgm:pt>
    <dgm:pt modelId="{DB0FE88E-CCBF-43D0-90B0-8917526D48A8}" type="sibTrans" cxnId="{5E62B518-0EF7-4B97-98AD-6D685F83075D}">
      <dgm:prSet/>
      <dgm:spPr/>
      <dgm:t>
        <a:bodyPr/>
        <a:lstStyle/>
        <a:p>
          <a:endParaRPr lang="en-US"/>
        </a:p>
      </dgm:t>
    </dgm:pt>
    <dgm:pt modelId="{CAF967CB-F684-4C77-AFD9-B5E8879561FA}">
      <dgm:prSet/>
      <dgm:spPr/>
      <dgm:t>
        <a:bodyPr/>
        <a:lstStyle/>
        <a:p>
          <a:r>
            <a:rPr lang="pt-BR" dirty="0"/>
            <a:t>O estudante extensionista deve reconhecer a importância de sua atuação para a comunidade, buscando sempre agir com responsabilidade e respeito.</a:t>
          </a:r>
          <a:endParaRPr lang="en-US" dirty="0"/>
        </a:p>
      </dgm:t>
    </dgm:pt>
    <dgm:pt modelId="{4B08B35D-80E0-44C0-8208-63EF18421AE2}" type="parTrans" cxnId="{7A2A06E2-D6F5-4670-8CA7-7EE55058F8BB}">
      <dgm:prSet/>
      <dgm:spPr/>
      <dgm:t>
        <a:bodyPr/>
        <a:lstStyle/>
        <a:p>
          <a:endParaRPr lang="en-US"/>
        </a:p>
      </dgm:t>
    </dgm:pt>
    <dgm:pt modelId="{3CF2DF7B-7F2B-4469-BEF1-269E2AEA80E1}" type="sibTrans" cxnId="{7A2A06E2-D6F5-4670-8CA7-7EE55058F8BB}">
      <dgm:prSet/>
      <dgm:spPr/>
      <dgm:t>
        <a:bodyPr/>
        <a:lstStyle/>
        <a:p>
          <a:endParaRPr lang="en-US"/>
        </a:p>
      </dgm:t>
    </dgm:pt>
    <dgm:pt modelId="{40414880-569E-49DD-9484-52D790665FF5}">
      <dgm:prSet/>
      <dgm:spPr/>
      <dgm:t>
        <a:bodyPr/>
        <a:lstStyle/>
        <a:p>
          <a:r>
            <a:rPr lang="pt-BR" b="1"/>
            <a:t>Ética na prática:</a:t>
          </a:r>
          <a:endParaRPr lang="en-US"/>
        </a:p>
      </dgm:t>
    </dgm:pt>
    <dgm:pt modelId="{F2D31149-C582-49F9-AF98-C1448F5DC632}" type="parTrans" cxnId="{C9D86229-AA4E-4741-8B2E-32CCA23DD6B0}">
      <dgm:prSet/>
      <dgm:spPr/>
      <dgm:t>
        <a:bodyPr/>
        <a:lstStyle/>
        <a:p>
          <a:endParaRPr lang="en-US"/>
        </a:p>
      </dgm:t>
    </dgm:pt>
    <dgm:pt modelId="{94E21347-8321-41AD-AC06-94993BC052EA}" type="sibTrans" cxnId="{C9D86229-AA4E-4741-8B2E-32CCA23DD6B0}">
      <dgm:prSet/>
      <dgm:spPr/>
      <dgm:t>
        <a:bodyPr/>
        <a:lstStyle/>
        <a:p>
          <a:endParaRPr lang="en-US"/>
        </a:p>
      </dgm:t>
    </dgm:pt>
    <dgm:pt modelId="{4C315083-02CF-4149-AA3F-773CFFFDC145}">
      <dgm:prSet/>
      <dgm:spPr/>
      <dgm:t>
        <a:bodyPr/>
        <a:lstStyle/>
        <a:p>
          <a:r>
            <a:rPr lang="pt-BR" dirty="0"/>
            <a:t>A ética na extensão envolve a honestidade, a transparência e o respeito aos valores e princípios da comunidade atendida.</a:t>
          </a:r>
          <a:endParaRPr lang="en-US" dirty="0"/>
        </a:p>
      </dgm:t>
    </dgm:pt>
    <dgm:pt modelId="{B7ACB222-773A-4688-A8E9-C4BD440E839A}" type="parTrans" cxnId="{787E1608-9E61-46EE-9A70-D9D0F58515C7}">
      <dgm:prSet/>
      <dgm:spPr/>
      <dgm:t>
        <a:bodyPr/>
        <a:lstStyle/>
        <a:p>
          <a:endParaRPr lang="en-US"/>
        </a:p>
      </dgm:t>
    </dgm:pt>
    <dgm:pt modelId="{F38B9760-3C58-4B23-8016-1873D9ADC464}" type="sibTrans" cxnId="{787E1608-9E61-46EE-9A70-D9D0F58515C7}">
      <dgm:prSet/>
      <dgm:spPr/>
      <dgm:t>
        <a:bodyPr/>
        <a:lstStyle/>
        <a:p>
          <a:endParaRPr lang="en-US"/>
        </a:p>
      </dgm:t>
    </dgm:pt>
    <dgm:pt modelId="{57DF6F90-0651-4BC1-84F6-5803508336A2}">
      <dgm:prSet/>
      <dgm:spPr/>
      <dgm:t>
        <a:bodyPr/>
        <a:lstStyle/>
        <a:p>
          <a:r>
            <a:rPr lang="pt-BR" b="1"/>
            <a:t>Ouvir as necessidades:</a:t>
          </a:r>
          <a:endParaRPr lang="en-US"/>
        </a:p>
      </dgm:t>
    </dgm:pt>
    <dgm:pt modelId="{20A6C671-E5C0-4B33-961A-2B0FCF779754}" type="parTrans" cxnId="{CC2F60DB-8435-4E1E-993F-0396C1EBABCC}">
      <dgm:prSet/>
      <dgm:spPr/>
      <dgm:t>
        <a:bodyPr/>
        <a:lstStyle/>
        <a:p>
          <a:endParaRPr lang="en-US"/>
        </a:p>
      </dgm:t>
    </dgm:pt>
    <dgm:pt modelId="{D79934C7-9731-43AD-BBC6-31E8F1E3AD22}" type="sibTrans" cxnId="{CC2F60DB-8435-4E1E-993F-0396C1EBABCC}">
      <dgm:prSet/>
      <dgm:spPr/>
      <dgm:t>
        <a:bodyPr/>
        <a:lstStyle/>
        <a:p>
          <a:endParaRPr lang="en-US"/>
        </a:p>
      </dgm:t>
    </dgm:pt>
    <dgm:pt modelId="{15D71A3F-9D19-428A-9D40-E96A174AF14F}">
      <dgm:prSet/>
      <dgm:spPr/>
      <dgm:t>
        <a:bodyPr/>
        <a:lstStyle/>
        <a:p>
          <a:r>
            <a:rPr lang="pt-BR"/>
            <a:t>A escuta atenta e contínua das demandas da comunidade é essencial para que a extensão universitária possa ser efetiva e atender às necessidades locais. </a:t>
          </a:r>
          <a:endParaRPr lang="en-US"/>
        </a:p>
      </dgm:t>
    </dgm:pt>
    <dgm:pt modelId="{89A80C82-EEFB-4551-AE3D-A6C712C60F00}" type="parTrans" cxnId="{86438188-0207-4A4F-BC10-32381B86A3AD}">
      <dgm:prSet/>
      <dgm:spPr/>
      <dgm:t>
        <a:bodyPr/>
        <a:lstStyle/>
        <a:p>
          <a:endParaRPr lang="en-US"/>
        </a:p>
      </dgm:t>
    </dgm:pt>
    <dgm:pt modelId="{38CD54AB-8806-4994-8501-292E2B34F69E}" type="sibTrans" cxnId="{86438188-0207-4A4F-BC10-32381B86A3AD}">
      <dgm:prSet/>
      <dgm:spPr/>
      <dgm:t>
        <a:bodyPr/>
        <a:lstStyle/>
        <a:p>
          <a:endParaRPr lang="en-US"/>
        </a:p>
      </dgm:t>
    </dgm:pt>
    <dgm:pt modelId="{22BE7F99-1F90-4659-9851-1D099084BA63}">
      <dgm:prSet/>
      <dgm:spPr/>
      <dgm:t>
        <a:bodyPr/>
        <a:lstStyle/>
        <a:p>
          <a:r>
            <a:rPr lang="pt-BR" b="1"/>
            <a:t>Diálogo e interação:</a:t>
          </a:r>
          <a:endParaRPr lang="en-US"/>
        </a:p>
      </dgm:t>
    </dgm:pt>
    <dgm:pt modelId="{62676283-35F7-4A85-BEA9-D8360F01EFF5}" type="parTrans" cxnId="{4EC2762A-EE43-4658-BE2C-6CBF9E58AA34}">
      <dgm:prSet/>
      <dgm:spPr/>
      <dgm:t>
        <a:bodyPr/>
        <a:lstStyle/>
        <a:p>
          <a:endParaRPr lang="en-US"/>
        </a:p>
      </dgm:t>
    </dgm:pt>
    <dgm:pt modelId="{C190AA57-7CB7-453B-9526-8026ADF64DAC}" type="sibTrans" cxnId="{4EC2762A-EE43-4658-BE2C-6CBF9E58AA34}">
      <dgm:prSet/>
      <dgm:spPr/>
      <dgm:t>
        <a:bodyPr/>
        <a:lstStyle/>
        <a:p>
          <a:endParaRPr lang="en-US"/>
        </a:p>
      </dgm:t>
    </dgm:pt>
    <dgm:pt modelId="{B578F3E1-7C97-44E8-9BFF-819CF52B577D}">
      <dgm:prSet/>
      <dgm:spPr/>
      <dgm:t>
        <a:bodyPr/>
        <a:lstStyle/>
        <a:p>
          <a:r>
            <a:rPr lang="pt-BR" dirty="0"/>
            <a:t>A extensão universitária deve ser construída através do diálogo e da interação com a comunidade, buscando construir soluções em conjunto. </a:t>
          </a:r>
          <a:endParaRPr lang="en-US" dirty="0"/>
        </a:p>
      </dgm:t>
    </dgm:pt>
    <dgm:pt modelId="{850EB664-64BE-453F-BC91-A8C3CBBF2222}" type="parTrans" cxnId="{1B776F8E-C78E-40B5-A8DE-5BDF4D84CC7F}">
      <dgm:prSet/>
      <dgm:spPr/>
      <dgm:t>
        <a:bodyPr/>
        <a:lstStyle/>
        <a:p>
          <a:endParaRPr lang="en-US"/>
        </a:p>
      </dgm:t>
    </dgm:pt>
    <dgm:pt modelId="{EA22565E-B669-4EF3-9468-BDD9D83932F9}" type="sibTrans" cxnId="{1B776F8E-C78E-40B5-A8DE-5BDF4D84CC7F}">
      <dgm:prSet/>
      <dgm:spPr/>
      <dgm:t>
        <a:bodyPr/>
        <a:lstStyle/>
        <a:p>
          <a:endParaRPr lang="en-US"/>
        </a:p>
      </dgm:t>
    </dgm:pt>
    <dgm:pt modelId="{81D0E98B-8119-44D9-958C-D79AC4A12D1D}">
      <dgm:prSet/>
      <dgm:spPr/>
      <dgm:t>
        <a:bodyPr/>
        <a:lstStyle/>
        <a:p>
          <a:r>
            <a:rPr lang="pt-BR" b="1"/>
            <a:t>Valorizar a diversidade:</a:t>
          </a:r>
          <a:endParaRPr lang="en-US"/>
        </a:p>
      </dgm:t>
    </dgm:pt>
    <dgm:pt modelId="{85688921-87B3-4833-8958-D653333976BD}" type="parTrans" cxnId="{6D5958AC-19FD-4DA4-ADD2-6C426C387BAF}">
      <dgm:prSet/>
      <dgm:spPr/>
      <dgm:t>
        <a:bodyPr/>
        <a:lstStyle/>
        <a:p>
          <a:endParaRPr lang="en-US"/>
        </a:p>
      </dgm:t>
    </dgm:pt>
    <dgm:pt modelId="{B71AD005-8B56-42E3-B1A3-4BB2BB357A07}" type="sibTrans" cxnId="{6D5958AC-19FD-4DA4-ADD2-6C426C387BAF}">
      <dgm:prSet/>
      <dgm:spPr/>
      <dgm:t>
        <a:bodyPr/>
        <a:lstStyle/>
        <a:p>
          <a:endParaRPr lang="en-US"/>
        </a:p>
      </dgm:t>
    </dgm:pt>
    <dgm:pt modelId="{40DBF414-1A39-4DFF-9195-7DD08654D7FA}">
      <dgm:prSet/>
      <dgm:spPr/>
      <dgm:t>
        <a:bodyPr/>
        <a:lstStyle/>
        <a:p>
          <a:r>
            <a:rPr lang="pt-BR"/>
            <a:t>Reconhecer e respeitar as diferentes expressões culturais presentes na comunidade, evitando qualquer tipo de discriminação ou preconceito. </a:t>
          </a:r>
          <a:endParaRPr lang="en-US"/>
        </a:p>
      </dgm:t>
    </dgm:pt>
    <dgm:pt modelId="{EBD22063-188F-4638-8F5C-2443F978CD08}" type="parTrans" cxnId="{BB941843-1ED4-4CA4-8DBB-1B41E01B3FD7}">
      <dgm:prSet/>
      <dgm:spPr/>
      <dgm:t>
        <a:bodyPr/>
        <a:lstStyle/>
        <a:p>
          <a:endParaRPr lang="en-US"/>
        </a:p>
      </dgm:t>
    </dgm:pt>
    <dgm:pt modelId="{C2102E09-D32F-400F-BE3B-F86BD435C399}" type="sibTrans" cxnId="{BB941843-1ED4-4CA4-8DBB-1B41E01B3FD7}">
      <dgm:prSet/>
      <dgm:spPr/>
      <dgm:t>
        <a:bodyPr/>
        <a:lstStyle/>
        <a:p>
          <a:endParaRPr lang="en-US"/>
        </a:p>
      </dgm:t>
    </dgm:pt>
    <dgm:pt modelId="{151019CF-04B1-46DB-B670-0761EDC32D36}">
      <dgm:prSet/>
      <dgm:spPr/>
      <dgm:t>
        <a:bodyPr/>
        <a:lstStyle/>
        <a:p>
          <a:r>
            <a:rPr lang="pt-BR" b="1"/>
            <a:t>Evitar ações que depreciem a universidade:</a:t>
          </a:r>
          <a:endParaRPr lang="en-US"/>
        </a:p>
      </dgm:t>
    </dgm:pt>
    <dgm:pt modelId="{90989A08-E2A2-4272-89A3-C72AB007D737}" type="parTrans" cxnId="{C07A87CA-45A0-4152-8521-E0EDA0C60951}">
      <dgm:prSet/>
      <dgm:spPr/>
      <dgm:t>
        <a:bodyPr/>
        <a:lstStyle/>
        <a:p>
          <a:endParaRPr lang="en-US"/>
        </a:p>
      </dgm:t>
    </dgm:pt>
    <dgm:pt modelId="{76AE43AD-8148-400C-8060-A0947A9E7E0A}" type="sibTrans" cxnId="{C07A87CA-45A0-4152-8521-E0EDA0C60951}">
      <dgm:prSet/>
      <dgm:spPr/>
      <dgm:t>
        <a:bodyPr/>
        <a:lstStyle/>
        <a:p>
          <a:endParaRPr lang="en-US"/>
        </a:p>
      </dgm:t>
    </dgm:pt>
    <dgm:pt modelId="{7C095728-EDF8-4DA5-B794-7C355FAA5BFD}">
      <dgm:prSet/>
      <dgm:spPr/>
      <dgm:t>
        <a:bodyPr/>
        <a:lstStyle/>
        <a:p>
          <a:r>
            <a:rPr lang="pt-BR"/>
            <a:t>É fundamental que o estudante extensionista evite ações que possam prejudicar a imagem da universidade ou da própria comunidade</a:t>
          </a:r>
          <a:endParaRPr lang="en-US"/>
        </a:p>
      </dgm:t>
    </dgm:pt>
    <dgm:pt modelId="{96274E27-7845-4C92-80F0-C6F2B959B315}" type="parTrans" cxnId="{1AEF0BA6-82F1-43C7-8DF1-2D46003EF633}">
      <dgm:prSet/>
      <dgm:spPr/>
      <dgm:t>
        <a:bodyPr/>
        <a:lstStyle/>
        <a:p>
          <a:endParaRPr lang="en-US"/>
        </a:p>
      </dgm:t>
    </dgm:pt>
    <dgm:pt modelId="{3C7AF0F6-7681-4877-A1B3-FA9A5A3B612D}" type="sibTrans" cxnId="{1AEF0BA6-82F1-43C7-8DF1-2D46003EF633}">
      <dgm:prSet/>
      <dgm:spPr/>
      <dgm:t>
        <a:bodyPr/>
        <a:lstStyle/>
        <a:p>
          <a:endParaRPr lang="en-US"/>
        </a:p>
      </dgm:t>
    </dgm:pt>
    <dgm:pt modelId="{7FB965C8-A6A3-4C14-BB9C-D737546CBA07}" type="pres">
      <dgm:prSet presAssocID="{C00CCD7C-1A37-4ECB-AEED-DFD0F33471A8}" presName="root" presStyleCnt="0">
        <dgm:presLayoutVars>
          <dgm:dir/>
          <dgm:resizeHandles val="exact"/>
        </dgm:presLayoutVars>
      </dgm:prSet>
      <dgm:spPr/>
    </dgm:pt>
    <dgm:pt modelId="{5085ADCF-AAB0-4737-ADF2-0E5460D7348D}" type="pres">
      <dgm:prSet presAssocID="{8167C474-2895-46F6-AFCD-2D2F6A672C7F}" presName="compNode" presStyleCnt="0"/>
      <dgm:spPr/>
    </dgm:pt>
    <dgm:pt modelId="{6A2C3B42-2882-4AF3-84AC-CCB4471E61A7}" type="pres">
      <dgm:prSet presAssocID="{8167C474-2895-46F6-AFCD-2D2F6A672C7F}" presName="bgRect" presStyleLbl="bgShp" presStyleIdx="0" presStyleCnt="6"/>
      <dgm:spPr/>
    </dgm:pt>
    <dgm:pt modelId="{7CE2C205-5D40-4824-B438-FB959FE17795}" type="pres">
      <dgm:prSet presAssocID="{8167C474-2895-46F6-AFCD-2D2F6A672C7F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la de aula"/>
        </a:ext>
      </dgm:extLst>
    </dgm:pt>
    <dgm:pt modelId="{696653B2-C934-4CDE-AEBD-F90EDB479DED}" type="pres">
      <dgm:prSet presAssocID="{8167C474-2895-46F6-AFCD-2D2F6A672C7F}" presName="spaceRect" presStyleCnt="0"/>
      <dgm:spPr/>
    </dgm:pt>
    <dgm:pt modelId="{4A3726A8-AB44-4264-B24C-39AC3FBABE5C}" type="pres">
      <dgm:prSet presAssocID="{8167C474-2895-46F6-AFCD-2D2F6A672C7F}" presName="parTx" presStyleLbl="revTx" presStyleIdx="0" presStyleCnt="12">
        <dgm:presLayoutVars>
          <dgm:chMax val="0"/>
          <dgm:chPref val="0"/>
        </dgm:presLayoutVars>
      </dgm:prSet>
      <dgm:spPr/>
    </dgm:pt>
    <dgm:pt modelId="{4F7D3790-5F21-4758-9FDA-AE1EDE42C687}" type="pres">
      <dgm:prSet presAssocID="{8167C474-2895-46F6-AFCD-2D2F6A672C7F}" presName="desTx" presStyleLbl="revTx" presStyleIdx="1" presStyleCnt="12">
        <dgm:presLayoutVars/>
      </dgm:prSet>
      <dgm:spPr/>
    </dgm:pt>
    <dgm:pt modelId="{E0F0CCD5-64F9-4B05-99F7-914FADFC0A03}" type="pres">
      <dgm:prSet presAssocID="{DB0FE88E-CCBF-43D0-90B0-8917526D48A8}" presName="sibTrans" presStyleCnt="0"/>
      <dgm:spPr/>
    </dgm:pt>
    <dgm:pt modelId="{D6950BC6-8868-48E9-BADE-EDDB9547DBAD}" type="pres">
      <dgm:prSet presAssocID="{40414880-569E-49DD-9484-52D790665FF5}" presName="compNode" presStyleCnt="0"/>
      <dgm:spPr/>
    </dgm:pt>
    <dgm:pt modelId="{5F025E17-F37F-440F-A902-2018BB5FB1DA}" type="pres">
      <dgm:prSet presAssocID="{40414880-569E-49DD-9484-52D790665FF5}" presName="bgRect" presStyleLbl="bgShp" presStyleIdx="1" presStyleCnt="6"/>
      <dgm:spPr/>
    </dgm:pt>
    <dgm:pt modelId="{314236A5-AEC5-451D-96BD-63FDB495A7FA}" type="pres">
      <dgm:prSet presAssocID="{40414880-569E-49DD-9484-52D790665FF5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B980E8DF-3C5B-48A7-AF2E-8FC5A19F038F}" type="pres">
      <dgm:prSet presAssocID="{40414880-569E-49DD-9484-52D790665FF5}" presName="spaceRect" presStyleCnt="0"/>
      <dgm:spPr/>
    </dgm:pt>
    <dgm:pt modelId="{388CC2C9-68D5-466F-A7C9-3CE1BF4D07D8}" type="pres">
      <dgm:prSet presAssocID="{40414880-569E-49DD-9484-52D790665FF5}" presName="parTx" presStyleLbl="revTx" presStyleIdx="2" presStyleCnt="12">
        <dgm:presLayoutVars>
          <dgm:chMax val="0"/>
          <dgm:chPref val="0"/>
        </dgm:presLayoutVars>
      </dgm:prSet>
      <dgm:spPr/>
    </dgm:pt>
    <dgm:pt modelId="{28E0E0C0-B354-4E88-A7EC-652DFF867823}" type="pres">
      <dgm:prSet presAssocID="{40414880-569E-49DD-9484-52D790665FF5}" presName="desTx" presStyleLbl="revTx" presStyleIdx="3" presStyleCnt="12">
        <dgm:presLayoutVars/>
      </dgm:prSet>
      <dgm:spPr/>
    </dgm:pt>
    <dgm:pt modelId="{48B8B1DD-801F-43DE-83CB-DECB902FAD46}" type="pres">
      <dgm:prSet presAssocID="{94E21347-8321-41AD-AC06-94993BC052EA}" presName="sibTrans" presStyleCnt="0"/>
      <dgm:spPr/>
    </dgm:pt>
    <dgm:pt modelId="{134386A3-D041-4435-9CD2-E95B3CBB836B}" type="pres">
      <dgm:prSet presAssocID="{57DF6F90-0651-4BC1-84F6-5803508336A2}" presName="compNode" presStyleCnt="0"/>
      <dgm:spPr/>
    </dgm:pt>
    <dgm:pt modelId="{C8D81950-E67D-4353-93A2-7D8634256328}" type="pres">
      <dgm:prSet presAssocID="{57DF6F90-0651-4BC1-84F6-5803508336A2}" presName="bgRect" presStyleLbl="bgShp" presStyleIdx="2" presStyleCnt="6"/>
      <dgm:spPr/>
    </dgm:pt>
    <dgm:pt modelId="{4D2F5C2E-EBE2-441A-8393-D5E59262C5ED}" type="pres">
      <dgm:prSet presAssocID="{57DF6F90-0651-4BC1-84F6-5803508336A2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93705160-1555-46A1-B6AC-ACEFE8624966}" type="pres">
      <dgm:prSet presAssocID="{57DF6F90-0651-4BC1-84F6-5803508336A2}" presName="spaceRect" presStyleCnt="0"/>
      <dgm:spPr/>
    </dgm:pt>
    <dgm:pt modelId="{0505669A-D47A-41E2-867E-ADB624C556AB}" type="pres">
      <dgm:prSet presAssocID="{57DF6F90-0651-4BC1-84F6-5803508336A2}" presName="parTx" presStyleLbl="revTx" presStyleIdx="4" presStyleCnt="12">
        <dgm:presLayoutVars>
          <dgm:chMax val="0"/>
          <dgm:chPref val="0"/>
        </dgm:presLayoutVars>
      </dgm:prSet>
      <dgm:spPr/>
    </dgm:pt>
    <dgm:pt modelId="{0387EEEA-3A17-49CC-B463-AD90FB3043BE}" type="pres">
      <dgm:prSet presAssocID="{57DF6F90-0651-4BC1-84F6-5803508336A2}" presName="desTx" presStyleLbl="revTx" presStyleIdx="5" presStyleCnt="12">
        <dgm:presLayoutVars/>
      </dgm:prSet>
      <dgm:spPr/>
    </dgm:pt>
    <dgm:pt modelId="{82A19F5C-6B9A-4624-87E9-8C44D29EE5ED}" type="pres">
      <dgm:prSet presAssocID="{D79934C7-9731-43AD-BBC6-31E8F1E3AD22}" presName="sibTrans" presStyleCnt="0"/>
      <dgm:spPr/>
    </dgm:pt>
    <dgm:pt modelId="{E13E5F6C-DC32-4C33-962E-EB00F0D3F0C4}" type="pres">
      <dgm:prSet presAssocID="{22BE7F99-1F90-4659-9851-1D099084BA63}" presName="compNode" presStyleCnt="0"/>
      <dgm:spPr/>
    </dgm:pt>
    <dgm:pt modelId="{3620A6E2-0BB7-46AF-8220-2955156E002A}" type="pres">
      <dgm:prSet presAssocID="{22BE7F99-1F90-4659-9851-1D099084BA63}" presName="bgRect" presStyleLbl="bgShp" presStyleIdx="3" presStyleCnt="6"/>
      <dgm:spPr/>
    </dgm:pt>
    <dgm:pt modelId="{7E9B248B-10FC-436F-814B-7237F76B09B5}" type="pres">
      <dgm:prSet presAssocID="{22BE7F99-1F90-4659-9851-1D099084BA63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2B590C6B-DEEA-4193-9857-DB36890EE664}" type="pres">
      <dgm:prSet presAssocID="{22BE7F99-1F90-4659-9851-1D099084BA63}" presName="spaceRect" presStyleCnt="0"/>
      <dgm:spPr/>
    </dgm:pt>
    <dgm:pt modelId="{A3FF822D-351D-4F64-AF9F-A3BA3583E559}" type="pres">
      <dgm:prSet presAssocID="{22BE7F99-1F90-4659-9851-1D099084BA63}" presName="parTx" presStyleLbl="revTx" presStyleIdx="6" presStyleCnt="12">
        <dgm:presLayoutVars>
          <dgm:chMax val="0"/>
          <dgm:chPref val="0"/>
        </dgm:presLayoutVars>
      </dgm:prSet>
      <dgm:spPr/>
    </dgm:pt>
    <dgm:pt modelId="{6202DEB9-D53B-4337-921E-F4DB515A6A63}" type="pres">
      <dgm:prSet presAssocID="{22BE7F99-1F90-4659-9851-1D099084BA63}" presName="desTx" presStyleLbl="revTx" presStyleIdx="7" presStyleCnt="12">
        <dgm:presLayoutVars/>
      </dgm:prSet>
      <dgm:spPr/>
    </dgm:pt>
    <dgm:pt modelId="{C14C31BC-F08B-4041-866C-25757A38F17E}" type="pres">
      <dgm:prSet presAssocID="{C190AA57-7CB7-453B-9526-8026ADF64DAC}" presName="sibTrans" presStyleCnt="0"/>
      <dgm:spPr/>
    </dgm:pt>
    <dgm:pt modelId="{3A7F416F-DAE4-4CE5-BE7C-F9F1203C36EC}" type="pres">
      <dgm:prSet presAssocID="{81D0E98B-8119-44D9-958C-D79AC4A12D1D}" presName="compNode" presStyleCnt="0"/>
      <dgm:spPr/>
    </dgm:pt>
    <dgm:pt modelId="{988C85AF-8A58-4E29-859F-28F0140CBE11}" type="pres">
      <dgm:prSet presAssocID="{81D0E98B-8119-44D9-958C-D79AC4A12D1D}" presName="bgRect" presStyleLbl="bgShp" presStyleIdx="4" presStyleCnt="6"/>
      <dgm:spPr/>
    </dgm:pt>
    <dgm:pt modelId="{95EF9868-7053-4F69-AA50-8A2023129777}" type="pres">
      <dgm:prSet presAssocID="{81D0E98B-8119-44D9-958C-D79AC4A12D1D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perto de mão"/>
        </a:ext>
      </dgm:extLst>
    </dgm:pt>
    <dgm:pt modelId="{FC9EBC0E-851D-4242-9803-97F314F3FB01}" type="pres">
      <dgm:prSet presAssocID="{81D0E98B-8119-44D9-958C-D79AC4A12D1D}" presName="spaceRect" presStyleCnt="0"/>
      <dgm:spPr/>
    </dgm:pt>
    <dgm:pt modelId="{6A394DE7-18B8-4357-9CAC-9B87DCEF32E3}" type="pres">
      <dgm:prSet presAssocID="{81D0E98B-8119-44D9-958C-D79AC4A12D1D}" presName="parTx" presStyleLbl="revTx" presStyleIdx="8" presStyleCnt="12">
        <dgm:presLayoutVars>
          <dgm:chMax val="0"/>
          <dgm:chPref val="0"/>
        </dgm:presLayoutVars>
      </dgm:prSet>
      <dgm:spPr/>
    </dgm:pt>
    <dgm:pt modelId="{65E7CC10-9615-4883-87D0-EA01BC07FB27}" type="pres">
      <dgm:prSet presAssocID="{81D0E98B-8119-44D9-958C-D79AC4A12D1D}" presName="desTx" presStyleLbl="revTx" presStyleIdx="9" presStyleCnt="12">
        <dgm:presLayoutVars/>
      </dgm:prSet>
      <dgm:spPr/>
    </dgm:pt>
    <dgm:pt modelId="{F2DDDC58-EE7A-434C-996C-019F0E986A91}" type="pres">
      <dgm:prSet presAssocID="{B71AD005-8B56-42E3-B1A3-4BB2BB357A07}" presName="sibTrans" presStyleCnt="0"/>
      <dgm:spPr/>
    </dgm:pt>
    <dgm:pt modelId="{97BF41A2-E01F-44AE-97C3-598649BE6A33}" type="pres">
      <dgm:prSet presAssocID="{151019CF-04B1-46DB-B670-0761EDC32D36}" presName="compNode" presStyleCnt="0"/>
      <dgm:spPr/>
    </dgm:pt>
    <dgm:pt modelId="{DD141741-A087-45C9-A6F3-99D076A4DB5D}" type="pres">
      <dgm:prSet presAssocID="{151019CF-04B1-46DB-B670-0761EDC32D36}" presName="bgRect" presStyleLbl="bgShp" presStyleIdx="5" presStyleCnt="6"/>
      <dgm:spPr/>
    </dgm:pt>
    <dgm:pt modelId="{B2E24DD2-356A-45EC-9647-DD562A538192}" type="pres">
      <dgm:prSet presAssocID="{151019CF-04B1-46DB-B670-0761EDC32D36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o sign"/>
        </a:ext>
      </dgm:extLst>
    </dgm:pt>
    <dgm:pt modelId="{5F12669E-5B60-4AC1-BFA5-E07DE5C479FB}" type="pres">
      <dgm:prSet presAssocID="{151019CF-04B1-46DB-B670-0761EDC32D36}" presName="spaceRect" presStyleCnt="0"/>
      <dgm:spPr/>
    </dgm:pt>
    <dgm:pt modelId="{258B71E6-0DC0-4563-BCB8-E4ADC191F71D}" type="pres">
      <dgm:prSet presAssocID="{151019CF-04B1-46DB-B670-0761EDC32D36}" presName="parTx" presStyleLbl="revTx" presStyleIdx="10" presStyleCnt="12">
        <dgm:presLayoutVars>
          <dgm:chMax val="0"/>
          <dgm:chPref val="0"/>
        </dgm:presLayoutVars>
      </dgm:prSet>
      <dgm:spPr/>
    </dgm:pt>
    <dgm:pt modelId="{9F3A1B49-D037-46EE-9C26-07AB11351DA0}" type="pres">
      <dgm:prSet presAssocID="{151019CF-04B1-46DB-B670-0761EDC32D36}" presName="desTx" presStyleLbl="revTx" presStyleIdx="11" presStyleCnt="12">
        <dgm:presLayoutVars/>
      </dgm:prSet>
      <dgm:spPr/>
    </dgm:pt>
  </dgm:ptLst>
  <dgm:cxnLst>
    <dgm:cxn modelId="{787E1608-9E61-46EE-9A70-D9D0F58515C7}" srcId="{40414880-569E-49DD-9484-52D790665FF5}" destId="{4C315083-02CF-4149-AA3F-773CFFFDC145}" srcOrd="0" destOrd="0" parTransId="{B7ACB222-773A-4688-A8E9-C4BD440E839A}" sibTransId="{F38B9760-3C58-4B23-8016-1873D9ADC464}"/>
    <dgm:cxn modelId="{8CACAD08-3082-4A48-BDC9-BA24D6243327}" type="presOf" srcId="{C00CCD7C-1A37-4ECB-AEED-DFD0F33471A8}" destId="{7FB965C8-A6A3-4C14-BB9C-D737546CBA07}" srcOrd="0" destOrd="0" presId="urn:microsoft.com/office/officeart/2018/2/layout/IconVerticalSolidList"/>
    <dgm:cxn modelId="{D5DB1217-B3E8-465B-8111-84862DEF0A8F}" type="presOf" srcId="{CAF967CB-F684-4C77-AFD9-B5E8879561FA}" destId="{4F7D3790-5F21-4758-9FDA-AE1EDE42C687}" srcOrd="0" destOrd="0" presId="urn:microsoft.com/office/officeart/2018/2/layout/IconVerticalSolidList"/>
    <dgm:cxn modelId="{5E62B518-0EF7-4B97-98AD-6D685F83075D}" srcId="{C00CCD7C-1A37-4ECB-AEED-DFD0F33471A8}" destId="{8167C474-2895-46F6-AFCD-2D2F6A672C7F}" srcOrd="0" destOrd="0" parTransId="{21F8D0F5-BB96-45D1-A974-C60E1BB6342F}" sibTransId="{DB0FE88E-CCBF-43D0-90B0-8917526D48A8}"/>
    <dgm:cxn modelId="{0FC8D624-B982-4F7F-8FE8-A34EBB16CC40}" type="presOf" srcId="{81D0E98B-8119-44D9-958C-D79AC4A12D1D}" destId="{6A394DE7-18B8-4357-9CAC-9B87DCEF32E3}" srcOrd="0" destOrd="0" presId="urn:microsoft.com/office/officeart/2018/2/layout/IconVerticalSolidList"/>
    <dgm:cxn modelId="{C9D86229-AA4E-4741-8B2E-32CCA23DD6B0}" srcId="{C00CCD7C-1A37-4ECB-AEED-DFD0F33471A8}" destId="{40414880-569E-49DD-9484-52D790665FF5}" srcOrd="1" destOrd="0" parTransId="{F2D31149-C582-49F9-AF98-C1448F5DC632}" sibTransId="{94E21347-8321-41AD-AC06-94993BC052EA}"/>
    <dgm:cxn modelId="{4EC2762A-EE43-4658-BE2C-6CBF9E58AA34}" srcId="{C00CCD7C-1A37-4ECB-AEED-DFD0F33471A8}" destId="{22BE7F99-1F90-4659-9851-1D099084BA63}" srcOrd="3" destOrd="0" parTransId="{62676283-35F7-4A85-BEA9-D8360F01EFF5}" sibTransId="{C190AA57-7CB7-453B-9526-8026ADF64DAC}"/>
    <dgm:cxn modelId="{EEA59C5F-2204-474A-9632-9CB8BDA5144C}" type="presOf" srcId="{22BE7F99-1F90-4659-9851-1D099084BA63}" destId="{A3FF822D-351D-4F64-AF9F-A3BA3583E559}" srcOrd="0" destOrd="0" presId="urn:microsoft.com/office/officeart/2018/2/layout/IconVerticalSolidList"/>
    <dgm:cxn modelId="{BB941843-1ED4-4CA4-8DBB-1B41E01B3FD7}" srcId="{81D0E98B-8119-44D9-958C-D79AC4A12D1D}" destId="{40DBF414-1A39-4DFF-9195-7DD08654D7FA}" srcOrd="0" destOrd="0" parTransId="{EBD22063-188F-4638-8F5C-2443F978CD08}" sibTransId="{C2102E09-D32F-400F-BE3B-F86BD435C399}"/>
    <dgm:cxn modelId="{4D92AA44-1C6B-47F9-B938-5905D6029E4B}" type="presOf" srcId="{15D71A3F-9D19-428A-9D40-E96A174AF14F}" destId="{0387EEEA-3A17-49CC-B463-AD90FB3043BE}" srcOrd="0" destOrd="0" presId="urn:microsoft.com/office/officeart/2018/2/layout/IconVerticalSolidList"/>
    <dgm:cxn modelId="{A6209950-8953-4A48-A1EA-FF36E81D777C}" type="presOf" srcId="{8167C474-2895-46F6-AFCD-2D2F6A672C7F}" destId="{4A3726A8-AB44-4264-B24C-39AC3FBABE5C}" srcOrd="0" destOrd="0" presId="urn:microsoft.com/office/officeart/2018/2/layout/IconVerticalSolidList"/>
    <dgm:cxn modelId="{F5792271-BE9B-40B4-BDD3-9A540CF48577}" type="presOf" srcId="{151019CF-04B1-46DB-B670-0761EDC32D36}" destId="{258B71E6-0DC0-4563-BCB8-E4ADC191F71D}" srcOrd="0" destOrd="0" presId="urn:microsoft.com/office/officeart/2018/2/layout/IconVerticalSolidList"/>
    <dgm:cxn modelId="{628A3085-D6F2-4D2F-86D9-144A755F163A}" type="presOf" srcId="{40414880-569E-49DD-9484-52D790665FF5}" destId="{388CC2C9-68D5-466F-A7C9-3CE1BF4D07D8}" srcOrd="0" destOrd="0" presId="urn:microsoft.com/office/officeart/2018/2/layout/IconVerticalSolidList"/>
    <dgm:cxn modelId="{BE682686-4DF4-4863-BE9C-2E5AF036AE21}" type="presOf" srcId="{40DBF414-1A39-4DFF-9195-7DD08654D7FA}" destId="{65E7CC10-9615-4883-87D0-EA01BC07FB27}" srcOrd="0" destOrd="0" presId="urn:microsoft.com/office/officeart/2018/2/layout/IconVerticalSolidList"/>
    <dgm:cxn modelId="{86438188-0207-4A4F-BC10-32381B86A3AD}" srcId="{57DF6F90-0651-4BC1-84F6-5803508336A2}" destId="{15D71A3F-9D19-428A-9D40-E96A174AF14F}" srcOrd="0" destOrd="0" parTransId="{89A80C82-EEFB-4551-AE3D-A6C712C60F00}" sibTransId="{38CD54AB-8806-4994-8501-292E2B34F69E}"/>
    <dgm:cxn modelId="{E8581F89-635F-477C-B465-8A08804A15AF}" type="presOf" srcId="{B578F3E1-7C97-44E8-9BFF-819CF52B577D}" destId="{6202DEB9-D53B-4337-921E-F4DB515A6A63}" srcOrd="0" destOrd="0" presId="urn:microsoft.com/office/officeart/2018/2/layout/IconVerticalSolidList"/>
    <dgm:cxn modelId="{1B776F8E-C78E-40B5-A8DE-5BDF4D84CC7F}" srcId="{22BE7F99-1F90-4659-9851-1D099084BA63}" destId="{B578F3E1-7C97-44E8-9BFF-819CF52B577D}" srcOrd="0" destOrd="0" parTransId="{850EB664-64BE-453F-BC91-A8C3CBBF2222}" sibTransId="{EA22565E-B669-4EF3-9468-BDD9D83932F9}"/>
    <dgm:cxn modelId="{1AEF0BA6-82F1-43C7-8DF1-2D46003EF633}" srcId="{151019CF-04B1-46DB-B670-0761EDC32D36}" destId="{7C095728-EDF8-4DA5-B794-7C355FAA5BFD}" srcOrd="0" destOrd="0" parTransId="{96274E27-7845-4C92-80F0-C6F2B959B315}" sibTransId="{3C7AF0F6-7681-4877-A1B3-FA9A5A3B612D}"/>
    <dgm:cxn modelId="{B1B39DA6-F3FA-4C65-8858-160D161E6DEB}" type="presOf" srcId="{4C315083-02CF-4149-AA3F-773CFFFDC145}" destId="{28E0E0C0-B354-4E88-A7EC-652DFF867823}" srcOrd="0" destOrd="0" presId="urn:microsoft.com/office/officeart/2018/2/layout/IconVerticalSolidList"/>
    <dgm:cxn modelId="{6D5958AC-19FD-4DA4-ADD2-6C426C387BAF}" srcId="{C00CCD7C-1A37-4ECB-AEED-DFD0F33471A8}" destId="{81D0E98B-8119-44D9-958C-D79AC4A12D1D}" srcOrd="4" destOrd="0" parTransId="{85688921-87B3-4833-8958-D653333976BD}" sibTransId="{B71AD005-8B56-42E3-B1A3-4BB2BB357A07}"/>
    <dgm:cxn modelId="{B22421AE-0570-45AB-96DA-9709AE2E6C24}" type="presOf" srcId="{57DF6F90-0651-4BC1-84F6-5803508336A2}" destId="{0505669A-D47A-41E2-867E-ADB624C556AB}" srcOrd="0" destOrd="0" presId="urn:microsoft.com/office/officeart/2018/2/layout/IconVerticalSolidList"/>
    <dgm:cxn modelId="{C07A87CA-45A0-4152-8521-E0EDA0C60951}" srcId="{C00CCD7C-1A37-4ECB-AEED-DFD0F33471A8}" destId="{151019CF-04B1-46DB-B670-0761EDC32D36}" srcOrd="5" destOrd="0" parTransId="{90989A08-E2A2-4272-89A3-C72AB007D737}" sibTransId="{76AE43AD-8148-400C-8060-A0947A9E7E0A}"/>
    <dgm:cxn modelId="{CEC5FECE-EB07-4E27-865B-4FC2DB849789}" type="presOf" srcId="{7C095728-EDF8-4DA5-B794-7C355FAA5BFD}" destId="{9F3A1B49-D037-46EE-9C26-07AB11351DA0}" srcOrd="0" destOrd="0" presId="urn:microsoft.com/office/officeart/2018/2/layout/IconVerticalSolidList"/>
    <dgm:cxn modelId="{CC2F60DB-8435-4E1E-993F-0396C1EBABCC}" srcId="{C00CCD7C-1A37-4ECB-AEED-DFD0F33471A8}" destId="{57DF6F90-0651-4BC1-84F6-5803508336A2}" srcOrd="2" destOrd="0" parTransId="{20A6C671-E5C0-4B33-961A-2B0FCF779754}" sibTransId="{D79934C7-9731-43AD-BBC6-31E8F1E3AD22}"/>
    <dgm:cxn modelId="{7A2A06E2-D6F5-4670-8CA7-7EE55058F8BB}" srcId="{8167C474-2895-46F6-AFCD-2D2F6A672C7F}" destId="{CAF967CB-F684-4C77-AFD9-B5E8879561FA}" srcOrd="0" destOrd="0" parTransId="{4B08B35D-80E0-44C0-8208-63EF18421AE2}" sibTransId="{3CF2DF7B-7F2B-4469-BEF1-269E2AEA80E1}"/>
    <dgm:cxn modelId="{AC553CF9-D42D-40E0-A3FE-B2AAC16B94AC}" type="presParOf" srcId="{7FB965C8-A6A3-4C14-BB9C-D737546CBA07}" destId="{5085ADCF-AAB0-4737-ADF2-0E5460D7348D}" srcOrd="0" destOrd="0" presId="urn:microsoft.com/office/officeart/2018/2/layout/IconVerticalSolidList"/>
    <dgm:cxn modelId="{FA412B54-8B89-4EC7-9B0D-58C04CBF8BE0}" type="presParOf" srcId="{5085ADCF-AAB0-4737-ADF2-0E5460D7348D}" destId="{6A2C3B42-2882-4AF3-84AC-CCB4471E61A7}" srcOrd="0" destOrd="0" presId="urn:microsoft.com/office/officeart/2018/2/layout/IconVerticalSolidList"/>
    <dgm:cxn modelId="{9CF4734E-A26A-4650-BE18-C78DA732496E}" type="presParOf" srcId="{5085ADCF-AAB0-4737-ADF2-0E5460D7348D}" destId="{7CE2C205-5D40-4824-B438-FB959FE17795}" srcOrd="1" destOrd="0" presId="urn:microsoft.com/office/officeart/2018/2/layout/IconVerticalSolidList"/>
    <dgm:cxn modelId="{83EEE0D8-FB27-4114-B8AE-9FAD27FF4ECA}" type="presParOf" srcId="{5085ADCF-AAB0-4737-ADF2-0E5460D7348D}" destId="{696653B2-C934-4CDE-AEBD-F90EDB479DED}" srcOrd="2" destOrd="0" presId="urn:microsoft.com/office/officeart/2018/2/layout/IconVerticalSolidList"/>
    <dgm:cxn modelId="{D4D9B34C-810C-4083-A96E-35B7C65A2B92}" type="presParOf" srcId="{5085ADCF-AAB0-4737-ADF2-0E5460D7348D}" destId="{4A3726A8-AB44-4264-B24C-39AC3FBABE5C}" srcOrd="3" destOrd="0" presId="urn:microsoft.com/office/officeart/2018/2/layout/IconVerticalSolidList"/>
    <dgm:cxn modelId="{377C5851-C517-44D5-B3EB-38C83E12162F}" type="presParOf" srcId="{5085ADCF-AAB0-4737-ADF2-0E5460D7348D}" destId="{4F7D3790-5F21-4758-9FDA-AE1EDE42C687}" srcOrd="4" destOrd="0" presId="urn:microsoft.com/office/officeart/2018/2/layout/IconVerticalSolidList"/>
    <dgm:cxn modelId="{2520136E-D2B7-4A97-A433-7FEA29B05CCF}" type="presParOf" srcId="{7FB965C8-A6A3-4C14-BB9C-D737546CBA07}" destId="{E0F0CCD5-64F9-4B05-99F7-914FADFC0A03}" srcOrd="1" destOrd="0" presId="urn:microsoft.com/office/officeart/2018/2/layout/IconVerticalSolidList"/>
    <dgm:cxn modelId="{854E872D-7EA6-4DDE-99A1-F3C5105FF878}" type="presParOf" srcId="{7FB965C8-A6A3-4C14-BB9C-D737546CBA07}" destId="{D6950BC6-8868-48E9-BADE-EDDB9547DBAD}" srcOrd="2" destOrd="0" presId="urn:microsoft.com/office/officeart/2018/2/layout/IconVerticalSolidList"/>
    <dgm:cxn modelId="{2037CB21-8BDA-46F1-980B-521668860DBD}" type="presParOf" srcId="{D6950BC6-8868-48E9-BADE-EDDB9547DBAD}" destId="{5F025E17-F37F-440F-A902-2018BB5FB1DA}" srcOrd="0" destOrd="0" presId="urn:microsoft.com/office/officeart/2018/2/layout/IconVerticalSolidList"/>
    <dgm:cxn modelId="{80AB3AF9-7FFA-4CF4-A5F2-23EEC713406B}" type="presParOf" srcId="{D6950BC6-8868-48E9-BADE-EDDB9547DBAD}" destId="{314236A5-AEC5-451D-96BD-63FDB495A7FA}" srcOrd="1" destOrd="0" presId="urn:microsoft.com/office/officeart/2018/2/layout/IconVerticalSolidList"/>
    <dgm:cxn modelId="{110636CC-3212-43C9-A003-F59D66BB578B}" type="presParOf" srcId="{D6950BC6-8868-48E9-BADE-EDDB9547DBAD}" destId="{B980E8DF-3C5B-48A7-AF2E-8FC5A19F038F}" srcOrd="2" destOrd="0" presId="urn:microsoft.com/office/officeart/2018/2/layout/IconVerticalSolidList"/>
    <dgm:cxn modelId="{EA56CE86-AB0A-4D5E-8739-2A324F6C8E5E}" type="presParOf" srcId="{D6950BC6-8868-48E9-BADE-EDDB9547DBAD}" destId="{388CC2C9-68D5-466F-A7C9-3CE1BF4D07D8}" srcOrd="3" destOrd="0" presId="urn:microsoft.com/office/officeart/2018/2/layout/IconVerticalSolidList"/>
    <dgm:cxn modelId="{766488AF-F4FD-4947-B054-00CEF6977F48}" type="presParOf" srcId="{D6950BC6-8868-48E9-BADE-EDDB9547DBAD}" destId="{28E0E0C0-B354-4E88-A7EC-652DFF867823}" srcOrd="4" destOrd="0" presId="urn:microsoft.com/office/officeart/2018/2/layout/IconVerticalSolidList"/>
    <dgm:cxn modelId="{B1297699-3726-4982-B4C9-8CC84E78F232}" type="presParOf" srcId="{7FB965C8-A6A3-4C14-BB9C-D737546CBA07}" destId="{48B8B1DD-801F-43DE-83CB-DECB902FAD46}" srcOrd="3" destOrd="0" presId="urn:microsoft.com/office/officeart/2018/2/layout/IconVerticalSolidList"/>
    <dgm:cxn modelId="{B20DA7F7-B1A7-4B03-99FD-70CA7170EAC6}" type="presParOf" srcId="{7FB965C8-A6A3-4C14-BB9C-D737546CBA07}" destId="{134386A3-D041-4435-9CD2-E95B3CBB836B}" srcOrd="4" destOrd="0" presId="urn:microsoft.com/office/officeart/2018/2/layout/IconVerticalSolidList"/>
    <dgm:cxn modelId="{DAA26FDC-E70D-448D-9E19-D785C2333A05}" type="presParOf" srcId="{134386A3-D041-4435-9CD2-E95B3CBB836B}" destId="{C8D81950-E67D-4353-93A2-7D8634256328}" srcOrd="0" destOrd="0" presId="urn:microsoft.com/office/officeart/2018/2/layout/IconVerticalSolidList"/>
    <dgm:cxn modelId="{A8FE6599-98AA-48AE-86EB-FC79C16D600A}" type="presParOf" srcId="{134386A3-D041-4435-9CD2-E95B3CBB836B}" destId="{4D2F5C2E-EBE2-441A-8393-D5E59262C5ED}" srcOrd="1" destOrd="0" presId="urn:microsoft.com/office/officeart/2018/2/layout/IconVerticalSolidList"/>
    <dgm:cxn modelId="{99C0FAAA-31C7-4FF5-9F98-7C1CFD4525F0}" type="presParOf" srcId="{134386A3-D041-4435-9CD2-E95B3CBB836B}" destId="{93705160-1555-46A1-B6AC-ACEFE8624966}" srcOrd="2" destOrd="0" presId="urn:microsoft.com/office/officeart/2018/2/layout/IconVerticalSolidList"/>
    <dgm:cxn modelId="{13A7F3C8-66FC-41E8-8384-311B5EA7A790}" type="presParOf" srcId="{134386A3-D041-4435-9CD2-E95B3CBB836B}" destId="{0505669A-D47A-41E2-867E-ADB624C556AB}" srcOrd="3" destOrd="0" presId="urn:microsoft.com/office/officeart/2018/2/layout/IconVerticalSolidList"/>
    <dgm:cxn modelId="{1459E451-8498-40B2-A012-81788AABA520}" type="presParOf" srcId="{134386A3-D041-4435-9CD2-E95B3CBB836B}" destId="{0387EEEA-3A17-49CC-B463-AD90FB3043BE}" srcOrd="4" destOrd="0" presId="urn:microsoft.com/office/officeart/2018/2/layout/IconVerticalSolidList"/>
    <dgm:cxn modelId="{15EED2CE-7F00-42DF-8EF8-6234C095C5DE}" type="presParOf" srcId="{7FB965C8-A6A3-4C14-BB9C-D737546CBA07}" destId="{82A19F5C-6B9A-4624-87E9-8C44D29EE5ED}" srcOrd="5" destOrd="0" presId="urn:microsoft.com/office/officeart/2018/2/layout/IconVerticalSolidList"/>
    <dgm:cxn modelId="{D9F76257-4042-4B07-9285-58B309692BF5}" type="presParOf" srcId="{7FB965C8-A6A3-4C14-BB9C-D737546CBA07}" destId="{E13E5F6C-DC32-4C33-962E-EB00F0D3F0C4}" srcOrd="6" destOrd="0" presId="urn:microsoft.com/office/officeart/2018/2/layout/IconVerticalSolidList"/>
    <dgm:cxn modelId="{F0BDBDBD-90D3-4B9F-829F-F728A3B61C18}" type="presParOf" srcId="{E13E5F6C-DC32-4C33-962E-EB00F0D3F0C4}" destId="{3620A6E2-0BB7-46AF-8220-2955156E002A}" srcOrd="0" destOrd="0" presId="urn:microsoft.com/office/officeart/2018/2/layout/IconVerticalSolidList"/>
    <dgm:cxn modelId="{F51969C3-0287-4948-AAC9-ABD7D90950D1}" type="presParOf" srcId="{E13E5F6C-DC32-4C33-962E-EB00F0D3F0C4}" destId="{7E9B248B-10FC-436F-814B-7237F76B09B5}" srcOrd="1" destOrd="0" presId="urn:microsoft.com/office/officeart/2018/2/layout/IconVerticalSolidList"/>
    <dgm:cxn modelId="{A6CBF3D1-EAD7-44B1-A209-1045C5DD5152}" type="presParOf" srcId="{E13E5F6C-DC32-4C33-962E-EB00F0D3F0C4}" destId="{2B590C6B-DEEA-4193-9857-DB36890EE664}" srcOrd="2" destOrd="0" presId="urn:microsoft.com/office/officeart/2018/2/layout/IconVerticalSolidList"/>
    <dgm:cxn modelId="{1D014151-2988-4A93-B366-1DF705DF8D1A}" type="presParOf" srcId="{E13E5F6C-DC32-4C33-962E-EB00F0D3F0C4}" destId="{A3FF822D-351D-4F64-AF9F-A3BA3583E559}" srcOrd="3" destOrd="0" presId="urn:microsoft.com/office/officeart/2018/2/layout/IconVerticalSolidList"/>
    <dgm:cxn modelId="{89B0EFB8-C560-4E27-9599-577A737539BA}" type="presParOf" srcId="{E13E5F6C-DC32-4C33-962E-EB00F0D3F0C4}" destId="{6202DEB9-D53B-4337-921E-F4DB515A6A63}" srcOrd="4" destOrd="0" presId="urn:microsoft.com/office/officeart/2018/2/layout/IconVerticalSolidList"/>
    <dgm:cxn modelId="{E3161EFB-5F91-498A-BF30-E0738422877C}" type="presParOf" srcId="{7FB965C8-A6A3-4C14-BB9C-D737546CBA07}" destId="{C14C31BC-F08B-4041-866C-25757A38F17E}" srcOrd="7" destOrd="0" presId="urn:microsoft.com/office/officeart/2018/2/layout/IconVerticalSolidList"/>
    <dgm:cxn modelId="{C78CFD36-E373-4A00-99E0-8C4B805182A6}" type="presParOf" srcId="{7FB965C8-A6A3-4C14-BB9C-D737546CBA07}" destId="{3A7F416F-DAE4-4CE5-BE7C-F9F1203C36EC}" srcOrd="8" destOrd="0" presId="urn:microsoft.com/office/officeart/2018/2/layout/IconVerticalSolidList"/>
    <dgm:cxn modelId="{D0911FF3-9A59-44DB-9D7F-1D258F0DEFA1}" type="presParOf" srcId="{3A7F416F-DAE4-4CE5-BE7C-F9F1203C36EC}" destId="{988C85AF-8A58-4E29-859F-28F0140CBE11}" srcOrd="0" destOrd="0" presId="urn:microsoft.com/office/officeart/2018/2/layout/IconVerticalSolidList"/>
    <dgm:cxn modelId="{221BD612-05EC-4760-801B-C74838363F54}" type="presParOf" srcId="{3A7F416F-DAE4-4CE5-BE7C-F9F1203C36EC}" destId="{95EF9868-7053-4F69-AA50-8A2023129777}" srcOrd="1" destOrd="0" presId="urn:microsoft.com/office/officeart/2018/2/layout/IconVerticalSolidList"/>
    <dgm:cxn modelId="{22E6A162-6158-4C4D-A7A0-3782A73CF302}" type="presParOf" srcId="{3A7F416F-DAE4-4CE5-BE7C-F9F1203C36EC}" destId="{FC9EBC0E-851D-4242-9803-97F314F3FB01}" srcOrd="2" destOrd="0" presId="urn:microsoft.com/office/officeart/2018/2/layout/IconVerticalSolidList"/>
    <dgm:cxn modelId="{D9F6C719-4F50-4B38-8F28-C1B32524E5F1}" type="presParOf" srcId="{3A7F416F-DAE4-4CE5-BE7C-F9F1203C36EC}" destId="{6A394DE7-18B8-4357-9CAC-9B87DCEF32E3}" srcOrd="3" destOrd="0" presId="urn:microsoft.com/office/officeart/2018/2/layout/IconVerticalSolidList"/>
    <dgm:cxn modelId="{0CC5E526-1CE5-4C6B-B54F-85E30143E479}" type="presParOf" srcId="{3A7F416F-DAE4-4CE5-BE7C-F9F1203C36EC}" destId="{65E7CC10-9615-4883-87D0-EA01BC07FB27}" srcOrd="4" destOrd="0" presId="urn:microsoft.com/office/officeart/2018/2/layout/IconVerticalSolidList"/>
    <dgm:cxn modelId="{C5E68B25-7F71-4A9C-83BE-EB4DB8B15AF5}" type="presParOf" srcId="{7FB965C8-A6A3-4C14-BB9C-D737546CBA07}" destId="{F2DDDC58-EE7A-434C-996C-019F0E986A91}" srcOrd="9" destOrd="0" presId="urn:microsoft.com/office/officeart/2018/2/layout/IconVerticalSolidList"/>
    <dgm:cxn modelId="{E348ACB6-2B99-43F5-9A20-150E8013FE6D}" type="presParOf" srcId="{7FB965C8-A6A3-4C14-BB9C-D737546CBA07}" destId="{97BF41A2-E01F-44AE-97C3-598649BE6A33}" srcOrd="10" destOrd="0" presId="urn:microsoft.com/office/officeart/2018/2/layout/IconVerticalSolidList"/>
    <dgm:cxn modelId="{9E528E9D-A6D9-4860-90FC-BE4F83082ACD}" type="presParOf" srcId="{97BF41A2-E01F-44AE-97C3-598649BE6A33}" destId="{DD141741-A087-45C9-A6F3-99D076A4DB5D}" srcOrd="0" destOrd="0" presId="urn:microsoft.com/office/officeart/2018/2/layout/IconVerticalSolidList"/>
    <dgm:cxn modelId="{F5425F60-F1CB-4F0E-9857-792C8F11E9C6}" type="presParOf" srcId="{97BF41A2-E01F-44AE-97C3-598649BE6A33}" destId="{B2E24DD2-356A-45EC-9647-DD562A538192}" srcOrd="1" destOrd="0" presId="urn:microsoft.com/office/officeart/2018/2/layout/IconVerticalSolidList"/>
    <dgm:cxn modelId="{E610C2A8-692E-4807-828E-178696686E10}" type="presParOf" srcId="{97BF41A2-E01F-44AE-97C3-598649BE6A33}" destId="{5F12669E-5B60-4AC1-BFA5-E07DE5C479FB}" srcOrd="2" destOrd="0" presId="urn:microsoft.com/office/officeart/2018/2/layout/IconVerticalSolidList"/>
    <dgm:cxn modelId="{71CBB2A0-399C-4234-BDB7-9AAD5365D7D7}" type="presParOf" srcId="{97BF41A2-E01F-44AE-97C3-598649BE6A33}" destId="{258B71E6-0DC0-4563-BCB8-E4ADC191F71D}" srcOrd="3" destOrd="0" presId="urn:microsoft.com/office/officeart/2018/2/layout/IconVerticalSolidList"/>
    <dgm:cxn modelId="{52DB3EF8-5F9B-42BC-A87D-9EB2F0CEA460}" type="presParOf" srcId="{97BF41A2-E01F-44AE-97C3-598649BE6A33}" destId="{9F3A1B49-D037-46EE-9C26-07AB11351DA0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48A2F37-C2F6-4841-A8EE-011C1C5127C2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122E6EC-0D15-465E-BFDF-CDD31E7182DC}">
      <dgm:prSet/>
      <dgm:spPr/>
      <dgm:t>
        <a:bodyPr/>
        <a:lstStyle/>
        <a:p>
          <a:r>
            <a:rPr lang="pt-BR" dirty="0"/>
            <a:t>Atividade Social (1º e 2º Bimestre)</a:t>
          </a:r>
          <a:endParaRPr lang="en-US" dirty="0"/>
        </a:p>
      </dgm:t>
    </dgm:pt>
    <dgm:pt modelId="{0E84EB9A-A3BE-4C2E-A574-3F5623855A47}" type="parTrans" cxnId="{5B893FE8-1CE4-46D1-B571-785F245FF8F3}">
      <dgm:prSet/>
      <dgm:spPr/>
      <dgm:t>
        <a:bodyPr/>
        <a:lstStyle/>
        <a:p>
          <a:endParaRPr lang="en-US"/>
        </a:p>
      </dgm:t>
    </dgm:pt>
    <dgm:pt modelId="{D2EC2E86-283D-4E32-8D45-C91C372DFB64}" type="sibTrans" cxnId="{5B893FE8-1CE4-46D1-B571-785F245FF8F3}">
      <dgm:prSet/>
      <dgm:spPr/>
      <dgm:t>
        <a:bodyPr/>
        <a:lstStyle/>
        <a:p>
          <a:endParaRPr lang="en-US"/>
        </a:p>
      </dgm:t>
    </dgm:pt>
    <dgm:pt modelId="{8E54A7DB-316F-487D-B1D8-4B9B2FC691F4}">
      <dgm:prSet/>
      <dgm:spPr/>
      <dgm:t>
        <a:bodyPr/>
        <a:lstStyle/>
        <a:p>
          <a:r>
            <a:rPr lang="pt-BR" b="1"/>
            <a:t>Realizar atividade que contribua com a sociedade.</a:t>
          </a:r>
          <a:endParaRPr lang="en-US"/>
        </a:p>
      </dgm:t>
    </dgm:pt>
    <dgm:pt modelId="{6584CF61-CB63-4C76-8D22-5303E8103651}" type="parTrans" cxnId="{0D8FB41A-2995-4002-B228-7CA86D6E0EB0}">
      <dgm:prSet/>
      <dgm:spPr/>
      <dgm:t>
        <a:bodyPr/>
        <a:lstStyle/>
        <a:p>
          <a:endParaRPr lang="en-US"/>
        </a:p>
      </dgm:t>
    </dgm:pt>
    <dgm:pt modelId="{75B432AF-D10D-4D70-B785-7A86BFB87522}" type="sibTrans" cxnId="{0D8FB41A-2995-4002-B228-7CA86D6E0EB0}">
      <dgm:prSet/>
      <dgm:spPr/>
      <dgm:t>
        <a:bodyPr/>
        <a:lstStyle/>
        <a:p>
          <a:endParaRPr lang="en-US"/>
        </a:p>
      </dgm:t>
    </dgm:pt>
    <dgm:pt modelId="{5807B46C-A2BA-4B45-9E7A-A2BF278105A6}">
      <dgm:prSet/>
      <dgm:spPr/>
      <dgm:t>
        <a:bodyPr/>
        <a:lstStyle/>
        <a:p>
          <a:r>
            <a:rPr lang="pt-BR"/>
            <a:t>Exemplos: Atividades com crianças carentes; Ações com Idosos; Trabalho Voluntário em Ongs (Culturais, Proteção dos Animais, Assistência Social, Direitos Humanos) Ações para reduzir impactos ambientais Ações solidárias na Igreja...</a:t>
          </a:r>
          <a:endParaRPr lang="en-US"/>
        </a:p>
      </dgm:t>
    </dgm:pt>
    <dgm:pt modelId="{DD333BF3-820F-4E7F-80B6-BF769FBB225A}" type="parTrans" cxnId="{8192BC57-2F6D-48F6-806F-024C01AD40A1}">
      <dgm:prSet/>
      <dgm:spPr/>
      <dgm:t>
        <a:bodyPr/>
        <a:lstStyle/>
        <a:p>
          <a:endParaRPr lang="en-US"/>
        </a:p>
      </dgm:t>
    </dgm:pt>
    <dgm:pt modelId="{ABDB7087-211A-46C1-A0DD-472587F69900}" type="sibTrans" cxnId="{8192BC57-2F6D-48F6-806F-024C01AD40A1}">
      <dgm:prSet/>
      <dgm:spPr/>
      <dgm:t>
        <a:bodyPr/>
        <a:lstStyle/>
        <a:p>
          <a:endParaRPr lang="en-US"/>
        </a:p>
      </dgm:t>
    </dgm:pt>
    <dgm:pt modelId="{67F77AC8-E252-4139-9D2A-52F512EF621C}">
      <dgm:prSet/>
      <dgm:spPr/>
      <dgm:t>
        <a:bodyPr/>
        <a:lstStyle/>
        <a:p>
          <a:r>
            <a:rPr lang="pt-BR" dirty="0"/>
            <a:t>Mapeamento de Iniciativas Comunitárias com apoio do ChatGPT (1º Bimestre)</a:t>
          </a:r>
          <a:endParaRPr lang="en-US" dirty="0"/>
        </a:p>
      </dgm:t>
    </dgm:pt>
    <dgm:pt modelId="{74646F99-D862-4F52-B3B3-9D95AB8C41BC}" type="parTrans" cxnId="{3EFE41A5-38AB-47CA-A7C0-8C6996CCF08D}">
      <dgm:prSet/>
      <dgm:spPr/>
      <dgm:t>
        <a:bodyPr/>
        <a:lstStyle/>
        <a:p>
          <a:endParaRPr lang="en-US"/>
        </a:p>
      </dgm:t>
    </dgm:pt>
    <dgm:pt modelId="{F6A7D9FE-526B-47FB-8C19-377C5D0DC6B0}" type="sibTrans" cxnId="{3EFE41A5-38AB-47CA-A7C0-8C6996CCF08D}">
      <dgm:prSet/>
      <dgm:spPr/>
      <dgm:t>
        <a:bodyPr/>
        <a:lstStyle/>
        <a:p>
          <a:endParaRPr lang="en-US"/>
        </a:p>
      </dgm:t>
    </dgm:pt>
    <dgm:pt modelId="{9727362C-62C9-42CF-BF9B-521A526EC4FF}">
      <dgm:prSet/>
      <dgm:spPr/>
      <dgm:t>
        <a:bodyPr/>
        <a:lstStyle/>
        <a:p>
          <a:r>
            <a:rPr lang="pt-BR" b="1"/>
            <a:t>Identificar, mapear e analisar criticamente duas ou mais iniciativas comunitárias reais</a:t>
          </a:r>
          <a:r>
            <a:rPr lang="pt-BR"/>
            <a:t>, associadas a alguma área de interesse social (educação, meio ambiente, saúde, cultura, inclusão digital etc.).</a:t>
          </a:r>
          <a:endParaRPr lang="en-US"/>
        </a:p>
      </dgm:t>
    </dgm:pt>
    <dgm:pt modelId="{72C03F5E-2FC0-4208-8455-48A6D1777056}" type="parTrans" cxnId="{DD6CFC45-F5DA-4487-BB38-3E74E110EB55}">
      <dgm:prSet/>
      <dgm:spPr/>
      <dgm:t>
        <a:bodyPr/>
        <a:lstStyle/>
        <a:p>
          <a:endParaRPr lang="en-US"/>
        </a:p>
      </dgm:t>
    </dgm:pt>
    <dgm:pt modelId="{B81C2903-6E98-4622-A868-DB8D3014CA12}" type="sibTrans" cxnId="{DD6CFC45-F5DA-4487-BB38-3E74E110EB55}">
      <dgm:prSet/>
      <dgm:spPr/>
      <dgm:t>
        <a:bodyPr/>
        <a:lstStyle/>
        <a:p>
          <a:endParaRPr lang="en-US"/>
        </a:p>
      </dgm:t>
    </dgm:pt>
    <dgm:pt modelId="{39CF07ED-C8DE-4FDA-9631-44DF7E2660BC}">
      <dgm:prSet/>
      <dgm:spPr/>
      <dgm:t>
        <a:bodyPr/>
        <a:lstStyle/>
        <a:p>
          <a:r>
            <a:rPr lang="pt-BR" dirty="0"/>
            <a:t>Planejamento Fictício de Ação Extensionista com apoio do ChatGPT (2º Bimestre)</a:t>
          </a:r>
          <a:endParaRPr lang="en-US" dirty="0"/>
        </a:p>
      </dgm:t>
    </dgm:pt>
    <dgm:pt modelId="{A6DB03C2-91C9-4D12-9B95-9F31B0007DD5}" type="parTrans" cxnId="{A7914DCD-7EEE-453A-A4D4-801F6E501FF5}">
      <dgm:prSet/>
      <dgm:spPr/>
      <dgm:t>
        <a:bodyPr/>
        <a:lstStyle/>
        <a:p>
          <a:endParaRPr lang="en-US"/>
        </a:p>
      </dgm:t>
    </dgm:pt>
    <dgm:pt modelId="{34FBE9C5-3AA7-453C-B9C3-1E81D02D8068}" type="sibTrans" cxnId="{A7914DCD-7EEE-453A-A4D4-801F6E501FF5}">
      <dgm:prSet/>
      <dgm:spPr/>
      <dgm:t>
        <a:bodyPr/>
        <a:lstStyle/>
        <a:p>
          <a:endParaRPr lang="en-US"/>
        </a:p>
      </dgm:t>
    </dgm:pt>
    <dgm:pt modelId="{C82240FB-45F6-483C-9D53-B4B767E08AFB}">
      <dgm:prSet/>
      <dgm:spPr/>
      <dgm:t>
        <a:bodyPr/>
        <a:lstStyle/>
        <a:p>
          <a:r>
            <a:rPr lang="pt-BR"/>
            <a:t>Realizar um </a:t>
          </a:r>
          <a:r>
            <a:rPr lang="pt-BR" b="1"/>
            <a:t>exercício de simulação planejada</a:t>
          </a:r>
          <a:r>
            <a:rPr lang="pt-BR"/>
            <a:t>, no qual o(a) estudante imaginará e descreverá uma ação extensionista fictícia, com base em demandas reais da sociedade.</a:t>
          </a:r>
          <a:endParaRPr lang="en-US"/>
        </a:p>
      </dgm:t>
    </dgm:pt>
    <dgm:pt modelId="{9269B276-183B-4FD9-A8AC-36F2B3A9FBA7}" type="parTrans" cxnId="{3544F1A6-8A9B-4626-B968-F634FC8194DC}">
      <dgm:prSet/>
      <dgm:spPr/>
      <dgm:t>
        <a:bodyPr/>
        <a:lstStyle/>
        <a:p>
          <a:endParaRPr lang="en-US"/>
        </a:p>
      </dgm:t>
    </dgm:pt>
    <dgm:pt modelId="{FE794A52-4AF7-4D1D-B397-B63BC6F4DE61}" type="sibTrans" cxnId="{3544F1A6-8A9B-4626-B968-F634FC8194DC}">
      <dgm:prSet/>
      <dgm:spPr/>
      <dgm:t>
        <a:bodyPr/>
        <a:lstStyle/>
        <a:p>
          <a:endParaRPr lang="en-US"/>
        </a:p>
      </dgm:t>
    </dgm:pt>
    <dgm:pt modelId="{02625E7D-3059-4A55-A28F-F5962CA5FCAD}" type="pres">
      <dgm:prSet presAssocID="{E48A2F37-C2F6-4841-A8EE-011C1C5127C2}" presName="linear" presStyleCnt="0">
        <dgm:presLayoutVars>
          <dgm:animLvl val="lvl"/>
          <dgm:resizeHandles val="exact"/>
        </dgm:presLayoutVars>
      </dgm:prSet>
      <dgm:spPr/>
    </dgm:pt>
    <dgm:pt modelId="{E3BA4267-282E-4F83-8E43-4DEFDE427C9D}" type="pres">
      <dgm:prSet presAssocID="{E122E6EC-0D15-465E-BFDF-CDD31E7182D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A051394-6B90-406C-B87D-E5CA9DCEE7BC}" type="pres">
      <dgm:prSet presAssocID="{E122E6EC-0D15-465E-BFDF-CDD31E7182DC}" presName="childText" presStyleLbl="revTx" presStyleIdx="0" presStyleCnt="3">
        <dgm:presLayoutVars>
          <dgm:bulletEnabled val="1"/>
        </dgm:presLayoutVars>
      </dgm:prSet>
      <dgm:spPr/>
    </dgm:pt>
    <dgm:pt modelId="{99300C0D-DDD9-4DBA-9F65-62C0F98A87E2}" type="pres">
      <dgm:prSet presAssocID="{67F77AC8-E252-4139-9D2A-52F512EF621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8DA45DD-2228-46B6-B8D5-AFD73126F69B}" type="pres">
      <dgm:prSet presAssocID="{67F77AC8-E252-4139-9D2A-52F512EF621C}" presName="childText" presStyleLbl="revTx" presStyleIdx="1" presStyleCnt="3">
        <dgm:presLayoutVars>
          <dgm:bulletEnabled val="1"/>
        </dgm:presLayoutVars>
      </dgm:prSet>
      <dgm:spPr/>
    </dgm:pt>
    <dgm:pt modelId="{A5D7C2E7-FE77-48F3-BE9A-0322201494BE}" type="pres">
      <dgm:prSet presAssocID="{39CF07ED-C8DE-4FDA-9631-44DF7E2660BC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AAB474CA-8CF8-49D7-AEBE-C0129A581BDF}" type="pres">
      <dgm:prSet presAssocID="{39CF07ED-C8DE-4FDA-9631-44DF7E2660BC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0D8FB41A-2995-4002-B228-7CA86D6E0EB0}" srcId="{E122E6EC-0D15-465E-BFDF-CDD31E7182DC}" destId="{8E54A7DB-316F-487D-B1D8-4B9B2FC691F4}" srcOrd="0" destOrd="0" parTransId="{6584CF61-CB63-4C76-8D22-5303E8103651}" sibTransId="{75B432AF-D10D-4D70-B785-7A86BFB87522}"/>
    <dgm:cxn modelId="{0E3D601E-851C-4608-907E-09BB96D2B7FA}" type="presOf" srcId="{39CF07ED-C8DE-4FDA-9631-44DF7E2660BC}" destId="{A5D7C2E7-FE77-48F3-BE9A-0322201494BE}" srcOrd="0" destOrd="0" presId="urn:microsoft.com/office/officeart/2005/8/layout/vList2"/>
    <dgm:cxn modelId="{27D0EB45-49C7-4D6B-8380-068A5D551267}" type="presOf" srcId="{8E54A7DB-316F-487D-B1D8-4B9B2FC691F4}" destId="{5A051394-6B90-406C-B87D-E5CA9DCEE7BC}" srcOrd="0" destOrd="0" presId="urn:microsoft.com/office/officeart/2005/8/layout/vList2"/>
    <dgm:cxn modelId="{DD6CFC45-F5DA-4487-BB38-3E74E110EB55}" srcId="{67F77AC8-E252-4139-9D2A-52F512EF621C}" destId="{9727362C-62C9-42CF-BF9B-521A526EC4FF}" srcOrd="0" destOrd="0" parTransId="{72C03F5E-2FC0-4208-8455-48A6D1777056}" sibTransId="{B81C2903-6E98-4622-A868-DB8D3014CA12}"/>
    <dgm:cxn modelId="{1F1BFF46-3EC9-4634-91DD-EBA136B203B9}" type="presOf" srcId="{C82240FB-45F6-483C-9D53-B4B767E08AFB}" destId="{AAB474CA-8CF8-49D7-AEBE-C0129A581BDF}" srcOrd="0" destOrd="0" presId="urn:microsoft.com/office/officeart/2005/8/layout/vList2"/>
    <dgm:cxn modelId="{0CE4BC72-916B-4AD4-92C6-3AD01666BD1D}" type="presOf" srcId="{9727362C-62C9-42CF-BF9B-521A526EC4FF}" destId="{98DA45DD-2228-46B6-B8D5-AFD73126F69B}" srcOrd="0" destOrd="0" presId="urn:microsoft.com/office/officeart/2005/8/layout/vList2"/>
    <dgm:cxn modelId="{8192BC57-2F6D-48F6-806F-024C01AD40A1}" srcId="{E122E6EC-0D15-465E-BFDF-CDD31E7182DC}" destId="{5807B46C-A2BA-4B45-9E7A-A2BF278105A6}" srcOrd="1" destOrd="0" parTransId="{DD333BF3-820F-4E7F-80B6-BF769FBB225A}" sibTransId="{ABDB7087-211A-46C1-A0DD-472587F69900}"/>
    <dgm:cxn modelId="{3EFE41A5-38AB-47CA-A7C0-8C6996CCF08D}" srcId="{E48A2F37-C2F6-4841-A8EE-011C1C5127C2}" destId="{67F77AC8-E252-4139-9D2A-52F512EF621C}" srcOrd="1" destOrd="0" parTransId="{74646F99-D862-4F52-B3B3-9D95AB8C41BC}" sibTransId="{F6A7D9FE-526B-47FB-8C19-377C5D0DC6B0}"/>
    <dgm:cxn modelId="{3544F1A6-8A9B-4626-B968-F634FC8194DC}" srcId="{39CF07ED-C8DE-4FDA-9631-44DF7E2660BC}" destId="{C82240FB-45F6-483C-9D53-B4B767E08AFB}" srcOrd="0" destOrd="0" parTransId="{9269B276-183B-4FD9-A8AC-36F2B3A9FBA7}" sibTransId="{FE794A52-4AF7-4D1D-B397-B63BC6F4DE61}"/>
    <dgm:cxn modelId="{A095A3C3-8AFF-4F76-81B9-74F789484360}" type="presOf" srcId="{E48A2F37-C2F6-4841-A8EE-011C1C5127C2}" destId="{02625E7D-3059-4A55-A28F-F5962CA5FCAD}" srcOrd="0" destOrd="0" presId="urn:microsoft.com/office/officeart/2005/8/layout/vList2"/>
    <dgm:cxn modelId="{A7914DCD-7EEE-453A-A4D4-801F6E501FF5}" srcId="{E48A2F37-C2F6-4841-A8EE-011C1C5127C2}" destId="{39CF07ED-C8DE-4FDA-9631-44DF7E2660BC}" srcOrd="2" destOrd="0" parTransId="{A6DB03C2-91C9-4D12-9B95-9F31B0007DD5}" sibTransId="{34FBE9C5-3AA7-453C-B9C3-1E81D02D8068}"/>
    <dgm:cxn modelId="{7606ECCD-9C98-493F-8794-976FC766AD3C}" type="presOf" srcId="{E122E6EC-0D15-465E-BFDF-CDD31E7182DC}" destId="{E3BA4267-282E-4F83-8E43-4DEFDE427C9D}" srcOrd="0" destOrd="0" presId="urn:microsoft.com/office/officeart/2005/8/layout/vList2"/>
    <dgm:cxn modelId="{5B893FE8-1CE4-46D1-B571-785F245FF8F3}" srcId="{E48A2F37-C2F6-4841-A8EE-011C1C5127C2}" destId="{E122E6EC-0D15-465E-BFDF-CDD31E7182DC}" srcOrd="0" destOrd="0" parTransId="{0E84EB9A-A3BE-4C2E-A574-3F5623855A47}" sibTransId="{D2EC2E86-283D-4E32-8D45-C91C372DFB64}"/>
    <dgm:cxn modelId="{51DE87F8-9714-4E6C-BE95-AAF21E4A31C6}" type="presOf" srcId="{67F77AC8-E252-4139-9D2A-52F512EF621C}" destId="{99300C0D-DDD9-4DBA-9F65-62C0F98A87E2}" srcOrd="0" destOrd="0" presId="urn:microsoft.com/office/officeart/2005/8/layout/vList2"/>
    <dgm:cxn modelId="{8ECBD2FE-9A04-46DC-A5B8-A4A8E06196DD}" type="presOf" srcId="{5807B46C-A2BA-4B45-9E7A-A2BF278105A6}" destId="{5A051394-6B90-406C-B87D-E5CA9DCEE7BC}" srcOrd="0" destOrd="1" presId="urn:microsoft.com/office/officeart/2005/8/layout/vList2"/>
    <dgm:cxn modelId="{47D200D5-D6F5-4B93-B3B2-25ADA19AC08C}" type="presParOf" srcId="{02625E7D-3059-4A55-A28F-F5962CA5FCAD}" destId="{E3BA4267-282E-4F83-8E43-4DEFDE427C9D}" srcOrd="0" destOrd="0" presId="urn:microsoft.com/office/officeart/2005/8/layout/vList2"/>
    <dgm:cxn modelId="{482850A7-7D57-45C4-97E0-0C140009960C}" type="presParOf" srcId="{02625E7D-3059-4A55-A28F-F5962CA5FCAD}" destId="{5A051394-6B90-406C-B87D-E5CA9DCEE7BC}" srcOrd="1" destOrd="0" presId="urn:microsoft.com/office/officeart/2005/8/layout/vList2"/>
    <dgm:cxn modelId="{52CB564C-8B0D-4C42-B699-075C547C8363}" type="presParOf" srcId="{02625E7D-3059-4A55-A28F-F5962CA5FCAD}" destId="{99300C0D-DDD9-4DBA-9F65-62C0F98A87E2}" srcOrd="2" destOrd="0" presId="urn:microsoft.com/office/officeart/2005/8/layout/vList2"/>
    <dgm:cxn modelId="{0B640A30-46F6-4B7F-A194-5B88D7672559}" type="presParOf" srcId="{02625E7D-3059-4A55-A28F-F5962CA5FCAD}" destId="{98DA45DD-2228-46B6-B8D5-AFD73126F69B}" srcOrd="3" destOrd="0" presId="urn:microsoft.com/office/officeart/2005/8/layout/vList2"/>
    <dgm:cxn modelId="{C23FED80-10DD-4D7E-9093-203DAD41A560}" type="presParOf" srcId="{02625E7D-3059-4A55-A28F-F5962CA5FCAD}" destId="{A5D7C2E7-FE77-48F3-BE9A-0322201494BE}" srcOrd="4" destOrd="0" presId="urn:microsoft.com/office/officeart/2005/8/layout/vList2"/>
    <dgm:cxn modelId="{4ECD4F91-DED9-43DA-9433-B803E1765101}" type="presParOf" srcId="{02625E7D-3059-4A55-A28F-F5962CA5FCAD}" destId="{AAB474CA-8CF8-49D7-AEBE-C0129A581BDF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3586D9B-2B8D-4697-8E83-9C75EB7FFA9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6F3540B-5C06-47F1-863B-F0EF9634AA5F}">
      <dgm:prSet/>
      <dgm:spPr/>
      <dgm:t>
        <a:bodyPr/>
        <a:lstStyle/>
        <a:p>
          <a:r>
            <a:rPr lang="pt-BR"/>
            <a:t>Prof. Luiz Romão	</a:t>
          </a:r>
          <a:endParaRPr lang="en-US"/>
        </a:p>
      </dgm:t>
    </dgm:pt>
    <dgm:pt modelId="{5386AD6C-C946-425C-9C81-1D84C1EB5358}" type="parTrans" cxnId="{DF942754-2809-41D8-B975-F9EE82D89D11}">
      <dgm:prSet/>
      <dgm:spPr/>
      <dgm:t>
        <a:bodyPr/>
        <a:lstStyle/>
        <a:p>
          <a:endParaRPr lang="en-US"/>
        </a:p>
      </dgm:t>
    </dgm:pt>
    <dgm:pt modelId="{92898500-F441-416B-9397-10F043C7B97F}" type="sibTrans" cxnId="{DF942754-2809-41D8-B975-F9EE82D89D11}">
      <dgm:prSet/>
      <dgm:spPr/>
      <dgm:t>
        <a:bodyPr/>
        <a:lstStyle/>
        <a:p>
          <a:endParaRPr lang="en-US"/>
        </a:p>
      </dgm:t>
    </dgm:pt>
    <dgm:pt modelId="{B05C2FCA-5D54-4488-9E3F-A069D643B3B9}">
      <dgm:prSet/>
      <dgm:spPr/>
      <dgm:t>
        <a:bodyPr/>
        <a:lstStyle/>
        <a:p>
          <a:r>
            <a:rPr lang="pt-BR"/>
            <a:t>luiz.melo@univille.br</a:t>
          </a:r>
          <a:endParaRPr lang="en-US"/>
        </a:p>
      </dgm:t>
    </dgm:pt>
    <dgm:pt modelId="{A75CFF08-4AAD-4CA1-8382-0703FB3BBEEB}" type="parTrans" cxnId="{CC9122A4-69B3-4368-885C-47DEAF346451}">
      <dgm:prSet/>
      <dgm:spPr/>
      <dgm:t>
        <a:bodyPr/>
        <a:lstStyle/>
        <a:p>
          <a:endParaRPr lang="en-US"/>
        </a:p>
      </dgm:t>
    </dgm:pt>
    <dgm:pt modelId="{431DC1A9-C84F-4418-BCE4-5E04E643B6B7}" type="sibTrans" cxnId="{CC9122A4-69B3-4368-885C-47DEAF346451}">
      <dgm:prSet/>
      <dgm:spPr/>
      <dgm:t>
        <a:bodyPr/>
        <a:lstStyle/>
        <a:p>
          <a:endParaRPr lang="en-US"/>
        </a:p>
      </dgm:t>
    </dgm:pt>
    <dgm:pt modelId="{403FE93F-B46F-4291-BBDF-0CCDE52CB73F}" type="pres">
      <dgm:prSet presAssocID="{D3586D9B-2B8D-4697-8E83-9C75EB7FFA97}" presName="linear" presStyleCnt="0">
        <dgm:presLayoutVars>
          <dgm:animLvl val="lvl"/>
          <dgm:resizeHandles val="exact"/>
        </dgm:presLayoutVars>
      </dgm:prSet>
      <dgm:spPr/>
    </dgm:pt>
    <dgm:pt modelId="{7256174A-6A4B-4A8A-AE9A-9F5509767E21}" type="pres">
      <dgm:prSet presAssocID="{26F3540B-5C06-47F1-863B-F0EF9634AA5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66C895F-D2A5-46C8-B138-AA64ACCE4FE7}" type="pres">
      <dgm:prSet presAssocID="{92898500-F441-416B-9397-10F043C7B97F}" presName="spacer" presStyleCnt="0"/>
      <dgm:spPr/>
    </dgm:pt>
    <dgm:pt modelId="{A1E7E17F-AA07-4321-BED3-7DC7190C6004}" type="pres">
      <dgm:prSet presAssocID="{B05C2FCA-5D54-4488-9E3F-A069D643B3B9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44E24F0A-E1BD-4DC3-BC49-C390D8DA0FA8}" type="presOf" srcId="{B05C2FCA-5D54-4488-9E3F-A069D643B3B9}" destId="{A1E7E17F-AA07-4321-BED3-7DC7190C6004}" srcOrd="0" destOrd="0" presId="urn:microsoft.com/office/officeart/2005/8/layout/vList2"/>
    <dgm:cxn modelId="{51042E26-FB8C-4790-B32D-1D09D20DAE92}" type="presOf" srcId="{D3586D9B-2B8D-4697-8E83-9C75EB7FFA97}" destId="{403FE93F-B46F-4291-BBDF-0CCDE52CB73F}" srcOrd="0" destOrd="0" presId="urn:microsoft.com/office/officeart/2005/8/layout/vList2"/>
    <dgm:cxn modelId="{DF942754-2809-41D8-B975-F9EE82D89D11}" srcId="{D3586D9B-2B8D-4697-8E83-9C75EB7FFA97}" destId="{26F3540B-5C06-47F1-863B-F0EF9634AA5F}" srcOrd="0" destOrd="0" parTransId="{5386AD6C-C946-425C-9C81-1D84C1EB5358}" sibTransId="{92898500-F441-416B-9397-10F043C7B97F}"/>
    <dgm:cxn modelId="{CC9122A4-69B3-4368-885C-47DEAF346451}" srcId="{D3586D9B-2B8D-4697-8E83-9C75EB7FFA97}" destId="{B05C2FCA-5D54-4488-9E3F-A069D643B3B9}" srcOrd="1" destOrd="0" parTransId="{A75CFF08-4AAD-4CA1-8382-0703FB3BBEEB}" sibTransId="{431DC1A9-C84F-4418-BCE4-5E04E643B6B7}"/>
    <dgm:cxn modelId="{8146DFBE-9B01-4E42-B977-FEFD0F82827A}" type="presOf" srcId="{26F3540B-5C06-47F1-863B-F0EF9634AA5F}" destId="{7256174A-6A4B-4A8A-AE9A-9F5509767E21}" srcOrd="0" destOrd="0" presId="urn:microsoft.com/office/officeart/2005/8/layout/vList2"/>
    <dgm:cxn modelId="{E2AF9FCE-C485-4B28-9196-5DB69E08927A}" type="presParOf" srcId="{403FE93F-B46F-4291-BBDF-0CCDE52CB73F}" destId="{7256174A-6A4B-4A8A-AE9A-9F5509767E21}" srcOrd="0" destOrd="0" presId="urn:microsoft.com/office/officeart/2005/8/layout/vList2"/>
    <dgm:cxn modelId="{3BCBDC7B-2DE8-4E6E-94E9-3BF7064C088C}" type="presParOf" srcId="{403FE93F-B46F-4291-BBDF-0CCDE52CB73F}" destId="{166C895F-D2A5-46C8-B138-AA64ACCE4FE7}" srcOrd="1" destOrd="0" presId="urn:microsoft.com/office/officeart/2005/8/layout/vList2"/>
    <dgm:cxn modelId="{A3C58F8F-B1CD-4973-8E10-DE1FE68D1A5A}" type="presParOf" srcId="{403FE93F-B46F-4291-BBDF-0CCDE52CB73F}" destId="{A1E7E17F-AA07-4321-BED3-7DC7190C6004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7B87FF-7488-4F64-908E-0CFC242CC33B}">
      <dsp:nvSpPr>
        <dsp:cNvPr id="0" name=""/>
        <dsp:cNvSpPr/>
      </dsp:nvSpPr>
      <dsp:spPr>
        <a:xfrm>
          <a:off x="1020487" y="488144"/>
          <a:ext cx="1098562" cy="1098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397265-A3A4-423D-A43B-8499681D21A2}">
      <dsp:nvSpPr>
        <dsp:cNvPr id="0" name=""/>
        <dsp:cNvSpPr/>
      </dsp:nvSpPr>
      <dsp:spPr>
        <a:xfrm>
          <a:off x="393" y="1731834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1600" b="1" kern="1200" dirty="0"/>
            <a:t>Desenvolvimento de habilidades:</a:t>
          </a:r>
          <a:endParaRPr lang="en-US" sz="1600" kern="1200" dirty="0"/>
        </a:p>
      </dsp:txBody>
      <dsp:txXfrm>
        <a:off x="393" y="1731834"/>
        <a:ext cx="3138750" cy="470812"/>
      </dsp:txXfrm>
    </dsp:sp>
    <dsp:sp modelId="{36F8BF32-7245-4AC9-8B9B-D8B0085EBAB7}">
      <dsp:nvSpPr>
        <dsp:cNvPr id="0" name=""/>
        <dsp:cNvSpPr/>
      </dsp:nvSpPr>
      <dsp:spPr>
        <a:xfrm>
          <a:off x="393" y="2270147"/>
          <a:ext cx="3138750" cy="1593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A participação em projetos de extensão, como a mediação, contribui para o desenvolvimento de habilidades socioemocionais importantes, como comunicação, escuta ativa e resolução de conflitos. </a:t>
          </a:r>
          <a:endParaRPr lang="en-US" sz="1600" kern="1200" dirty="0"/>
        </a:p>
      </dsp:txBody>
      <dsp:txXfrm>
        <a:off x="393" y="2270147"/>
        <a:ext cx="3138750" cy="1593045"/>
      </dsp:txXfrm>
    </dsp:sp>
    <dsp:sp modelId="{774A4C75-CC90-430D-810F-A056DCB0810E}">
      <dsp:nvSpPr>
        <dsp:cNvPr id="0" name=""/>
        <dsp:cNvSpPr/>
      </dsp:nvSpPr>
      <dsp:spPr>
        <a:xfrm>
          <a:off x="4708518" y="488144"/>
          <a:ext cx="1098562" cy="1098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DC0B2F-BCBB-4EAA-8F98-2DDB8DE96700}">
      <dsp:nvSpPr>
        <dsp:cNvPr id="0" name=""/>
        <dsp:cNvSpPr/>
      </dsp:nvSpPr>
      <dsp:spPr>
        <a:xfrm>
          <a:off x="3688425" y="1731834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1600" b="1" kern="1200"/>
            <a:t>Impacto social:</a:t>
          </a:r>
          <a:endParaRPr lang="en-US" sz="1600" kern="1200"/>
        </a:p>
      </dsp:txBody>
      <dsp:txXfrm>
        <a:off x="3688425" y="1731834"/>
        <a:ext cx="3138750" cy="470812"/>
      </dsp:txXfrm>
    </dsp:sp>
    <dsp:sp modelId="{74703034-45AE-424D-B3D9-9509F5045E7D}">
      <dsp:nvSpPr>
        <dsp:cNvPr id="0" name=""/>
        <dsp:cNvSpPr/>
      </dsp:nvSpPr>
      <dsp:spPr>
        <a:xfrm>
          <a:off x="3688425" y="2270147"/>
          <a:ext cx="3138750" cy="1593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O estudante extensionista, ao atuar como mediador, pode promover mudanças positivas na comunidade, contribuindo para a cultura de paz e a resolução pacífica de conflitos. </a:t>
          </a:r>
          <a:endParaRPr lang="en-US" sz="1600" kern="1200" dirty="0"/>
        </a:p>
      </dsp:txBody>
      <dsp:txXfrm>
        <a:off x="3688425" y="2270147"/>
        <a:ext cx="3138750" cy="1593045"/>
      </dsp:txXfrm>
    </dsp:sp>
    <dsp:sp modelId="{33FA8BE0-03D5-43A2-949C-BB7D1829642D}">
      <dsp:nvSpPr>
        <dsp:cNvPr id="0" name=""/>
        <dsp:cNvSpPr/>
      </dsp:nvSpPr>
      <dsp:spPr>
        <a:xfrm>
          <a:off x="8396550" y="488144"/>
          <a:ext cx="1098562" cy="1098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E8881F-70A2-48D7-A22B-3CF24CF1F119}">
      <dsp:nvSpPr>
        <dsp:cNvPr id="0" name=""/>
        <dsp:cNvSpPr/>
      </dsp:nvSpPr>
      <dsp:spPr>
        <a:xfrm>
          <a:off x="7376456" y="1731834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1600" b="1" kern="1200"/>
            <a:t>Formação cidadã:</a:t>
          </a:r>
          <a:endParaRPr lang="en-US" sz="1600" kern="1200"/>
        </a:p>
      </dsp:txBody>
      <dsp:txXfrm>
        <a:off x="7376456" y="1731834"/>
        <a:ext cx="3138750" cy="470812"/>
      </dsp:txXfrm>
    </dsp:sp>
    <dsp:sp modelId="{287B7B59-AB55-4694-AF18-DFC53EF71D77}">
      <dsp:nvSpPr>
        <dsp:cNvPr id="0" name=""/>
        <dsp:cNvSpPr/>
      </dsp:nvSpPr>
      <dsp:spPr>
        <a:xfrm>
          <a:off x="7376456" y="2270147"/>
          <a:ext cx="3138750" cy="1593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A experiência na mediação contribui para a formação de cidadãos mais conscientes, responsáveis e capazes de lidar com os desafios da vida em sociedade. </a:t>
          </a:r>
          <a:endParaRPr lang="en-US" sz="1600" kern="1200" dirty="0"/>
        </a:p>
      </dsp:txBody>
      <dsp:txXfrm>
        <a:off x="7376456" y="2270147"/>
        <a:ext cx="3138750" cy="15930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2C3B42-2882-4AF3-84AC-CCB4471E61A7}">
      <dsp:nvSpPr>
        <dsp:cNvPr id="0" name=""/>
        <dsp:cNvSpPr/>
      </dsp:nvSpPr>
      <dsp:spPr>
        <a:xfrm>
          <a:off x="0" y="4492"/>
          <a:ext cx="6900512" cy="76236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E2C205-5D40-4824-B438-FB959FE17795}">
      <dsp:nvSpPr>
        <dsp:cNvPr id="0" name=""/>
        <dsp:cNvSpPr/>
      </dsp:nvSpPr>
      <dsp:spPr>
        <a:xfrm>
          <a:off x="230615" y="176024"/>
          <a:ext cx="419301" cy="41930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3726A8-AB44-4264-B24C-39AC3FBABE5C}">
      <dsp:nvSpPr>
        <dsp:cNvPr id="0" name=""/>
        <dsp:cNvSpPr/>
      </dsp:nvSpPr>
      <dsp:spPr>
        <a:xfrm>
          <a:off x="880533" y="4492"/>
          <a:ext cx="3105230" cy="762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684" tIns="80684" rIns="80684" bIns="8068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kern="1200"/>
            <a:t>Compromisso com a comunidade:</a:t>
          </a:r>
          <a:endParaRPr lang="en-US" sz="1900" kern="1200"/>
        </a:p>
      </dsp:txBody>
      <dsp:txXfrm>
        <a:off x="880533" y="4492"/>
        <a:ext cx="3105230" cy="762366"/>
      </dsp:txXfrm>
    </dsp:sp>
    <dsp:sp modelId="{4F7D3790-5F21-4758-9FDA-AE1EDE42C687}">
      <dsp:nvSpPr>
        <dsp:cNvPr id="0" name=""/>
        <dsp:cNvSpPr/>
      </dsp:nvSpPr>
      <dsp:spPr>
        <a:xfrm>
          <a:off x="3985763" y="4492"/>
          <a:ext cx="2913887" cy="762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684" tIns="80684" rIns="80684" bIns="80684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O estudante extensionista deve reconhecer a importância de sua atuação para a comunidade, buscando sempre agir com responsabilidade e respeito.</a:t>
          </a:r>
          <a:endParaRPr lang="en-US" sz="1100" kern="1200" dirty="0"/>
        </a:p>
      </dsp:txBody>
      <dsp:txXfrm>
        <a:off x="3985763" y="4492"/>
        <a:ext cx="2913887" cy="762366"/>
      </dsp:txXfrm>
    </dsp:sp>
    <dsp:sp modelId="{5F025E17-F37F-440F-A902-2018BB5FB1DA}">
      <dsp:nvSpPr>
        <dsp:cNvPr id="0" name=""/>
        <dsp:cNvSpPr/>
      </dsp:nvSpPr>
      <dsp:spPr>
        <a:xfrm>
          <a:off x="0" y="957450"/>
          <a:ext cx="6900512" cy="76236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4236A5-AEC5-451D-96BD-63FDB495A7FA}">
      <dsp:nvSpPr>
        <dsp:cNvPr id="0" name=""/>
        <dsp:cNvSpPr/>
      </dsp:nvSpPr>
      <dsp:spPr>
        <a:xfrm>
          <a:off x="230615" y="1128982"/>
          <a:ext cx="419301" cy="41930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8CC2C9-68D5-466F-A7C9-3CE1BF4D07D8}">
      <dsp:nvSpPr>
        <dsp:cNvPr id="0" name=""/>
        <dsp:cNvSpPr/>
      </dsp:nvSpPr>
      <dsp:spPr>
        <a:xfrm>
          <a:off x="880533" y="957450"/>
          <a:ext cx="3105230" cy="762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684" tIns="80684" rIns="80684" bIns="8068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kern="1200"/>
            <a:t>Ética na prática:</a:t>
          </a:r>
          <a:endParaRPr lang="en-US" sz="1900" kern="1200"/>
        </a:p>
      </dsp:txBody>
      <dsp:txXfrm>
        <a:off x="880533" y="957450"/>
        <a:ext cx="3105230" cy="762366"/>
      </dsp:txXfrm>
    </dsp:sp>
    <dsp:sp modelId="{28E0E0C0-B354-4E88-A7EC-652DFF867823}">
      <dsp:nvSpPr>
        <dsp:cNvPr id="0" name=""/>
        <dsp:cNvSpPr/>
      </dsp:nvSpPr>
      <dsp:spPr>
        <a:xfrm>
          <a:off x="3985763" y="957450"/>
          <a:ext cx="2913887" cy="762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684" tIns="80684" rIns="80684" bIns="80684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A ética na extensão envolve a honestidade, a transparência e o respeito aos valores e princípios da comunidade atendida.</a:t>
          </a:r>
          <a:endParaRPr lang="en-US" sz="1100" kern="1200" dirty="0"/>
        </a:p>
      </dsp:txBody>
      <dsp:txXfrm>
        <a:off x="3985763" y="957450"/>
        <a:ext cx="2913887" cy="762366"/>
      </dsp:txXfrm>
    </dsp:sp>
    <dsp:sp modelId="{C8D81950-E67D-4353-93A2-7D8634256328}">
      <dsp:nvSpPr>
        <dsp:cNvPr id="0" name=""/>
        <dsp:cNvSpPr/>
      </dsp:nvSpPr>
      <dsp:spPr>
        <a:xfrm>
          <a:off x="0" y="1910408"/>
          <a:ext cx="6900512" cy="76236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2F5C2E-EBE2-441A-8393-D5E59262C5ED}">
      <dsp:nvSpPr>
        <dsp:cNvPr id="0" name=""/>
        <dsp:cNvSpPr/>
      </dsp:nvSpPr>
      <dsp:spPr>
        <a:xfrm>
          <a:off x="230615" y="2081940"/>
          <a:ext cx="419301" cy="41930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05669A-D47A-41E2-867E-ADB624C556AB}">
      <dsp:nvSpPr>
        <dsp:cNvPr id="0" name=""/>
        <dsp:cNvSpPr/>
      </dsp:nvSpPr>
      <dsp:spPr>
        <a:xfrm>
          <a:off x="880533" y="1910408"/>
          <a:ext cx="3105230" cy="762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684" tIns="80684" rIns="80684" bIns="8068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kern="1200"/>
            <a:t>Ouvir as necessidades:</a:t>
          </a:r>
          <a:endParaRPr lang="en-US" sz="1900" kern="1200"/>
        </a:p>
      </dsp:txBody>
      <dsp:txXfrm>
        <a:off x="880533" y="1910408"/>
        <a:ext cx="3105230" cy="762366"/>
      </dsp:txXfrm>
    </dsp:sp>
    <dsp:sp modelId="{0387EEEA-3A17-49CC-B463-AD90FB3043BE}">
      <dsp:nvSpPr>
        <dsp:cNvPr id="0" name=""/>
        <dsp:cNvSpPr/>
      </dsp:nvSpPr>
      <dsp:spPr>
        <a:xfrm>
          <a:off x="3985763" y="1910408"/>
          <a:ext cx="2913887" cy="762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684" tIns="80684" rIns="80684" bIns="80684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A escuta atenta e contínua das demandas da comunidade é essencial para que a extensão universitária possa ser efetiva e atender às necessidades locais. </a:t>
          </a:r>
          <a:endParaRPr lang="en-US" sz="1100" kern="1200"/>
        </a:p>
      </dsp:txBody>
      <dsp:txXfrm>
        <a:off x="3985763" y="1910408"/>
        <a:ext cx="2913887" cy="762366"/>
      </dsp:txXfrm>
    </dsp:sp>
    <dsp:sp modelId="{3620A6E2-0BB7-46AF-8220-2955156E002A}">
      <dsp:nvSpPr>
        <dsp:cNvPr id="0" name=""/>
        <dsp:cNvSpPr/>
      </dsp:nvSpPr>
      <dsp:spPr>
        <a:xfrm>
          <a:off x="0" y="2863366"/>
          <a:ext cx="6900512" cy="76236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9B248B-10FC-436F-814B-7237F76B09B5}">
      <dsp:nvSpPr>
        <dsp:cNvPr id="0" name=""/>
        <dsp:cNvSpPr/>
      </dsp:nvSpPr>
      <dsp:spPr>
        <a:xfrm>
          <a:off x="230615" y="3034898"/>
          <a:ext cx="419301" cy="41930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FF822D-351D-4F64-AF9F-A3BA3583E559}">
      <dsp:nvSpPr>
        <dsp:cNvPr id="0" name=""/>
        <dsp:cNvSpPr/>
      </dsp:nvSpPr>
      <dsp:spPr>
        <a:xfrm>
          <a:off x="880533" y="2863366"/>
          <a:ext cx="3105230" cy="762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684" tIns="80684" rIns="80684" bIns="8068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kern="1200"/>
            <a:t>Diálogo e interação:</a:t>
          </a:r>
          <a:endParaRPr lang="en-US" sz="1900" kern="1200"/>
        </a:p>
      </dsp:txBody>
      <dsp:txXfrm>
        <a:off x="880533" y="2863366"/>
        <a:ext cx="3105230" cy="762366"/>
      </dsp:txXfrm>
    </dsp:sp>
    <dsp:sp modelId="{6202DEB9-D53B-4337-921E-F4DB515A6A63}">
      <dsp:nvSpPr>
        <dsp:cNvPr id="0" name=""/>
        <dsp:cNvSpPr/>
      </dsp:nvSpPr>
      <dsp:spPr>
        <a:xfrm>
          <a:off x="3985763" y="2863366"/>
          <a:ext cx="2913887" cy="762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684" tIns="80684" rIns="80684" bIns="80684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A extensão universitária deve ser construída através do diálogo e da interação com a comunidade, buscando construir soluções em conjunto. </a:t>
          </a:r>
          <a:endParaRPr lang="en-US" sz="1100" kern="1200" dirty="0"/>
        </a:p>
      </dsp:txBody>
      <dsp:txXfrm>
        <a:off x="3985763" y="2863366"/>
        <a:ext cx="2913887" cy="762366"/>
      </dsp:txXfrm>
    </dsp:sp>
    <dsp:sp modelId="{988C85AF-8A58-4E29-859F-28F0140CBE11}">
      <dsp:nvSpPr>
        <dsp:cNvPr id="0" name=""/>
        <dsp:cNvSpPr/>
      </dsp:nvSpPr>
      <dsp:spPr>
        <a:xfrm>
          <a:off x="0" y="3816324"/>
          <a:ext cx="6900512" cy="762366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EF9868-7053-4F69-AA50-8A2023129777}">
      <dsp:nvSpPr>
        <dsp:cNvPr id="0" name=""/>
        <dsp:cNvSpPr/>
      </dsp:nvSpPr>
      <dsp:spPr>
        <a:xfrm>
          <a:off x="230615" y="3987856"/>
          <a:ext cx="419301" cy="41930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394DE7-18B8-4357-9CAC-9B87DCEF32E3}">
      <dsp:nvSpPr>
        <dsp:cNvPr id="0" name=""/>
        <dsp:cNvSpPr/>
      </dsp:nvSpPr>
      <dsp:spPr>
        <a:xfrm>
          <a:off x="880533" y="3816324"/>
          <a:ext cx="3105230" cy="762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684" tIns="80684" rIns="80684" bIns="8068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kern="1200"/>
            <a:t>Valorizar a diversidade:</a:t>
          </a:r>
          <a:endParaRPr lang="en-US" sz="1900" kern="1200"/>
        </a:p>
      </dsp:txBody>
      <dsp:txXfrm>
        <a:off x="880533" y="3816324"/>
        <a:ext cx="3105230" cy="762366"/>
      </dsp:txXfrm>
    </dsp:sp>
    <dsp:sp modelId="{65E7CC10-9615-4883-87D0-EA01BC07FB27}">
      <dsp:nvSpPr>
        <dsp:cNvPr id="0" name=""/>
        <dsp:cNvSpPr/>
      </dsp:nvSpPr>
      <dsp:spPr>
        <a:xfrm>
          <a:off x="3985763" y="3816324"/>
          <a:ext cx="2913887" cy="762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684" tIns="80684" rIns="80684" bIns="80684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Reconhecer e respeitar as diferentes expressões culturais presentes na comunidade, evitando qualquer tipo de discriminação ou preconceito. </a:t>
          </a:r>
          <a:endParaRPr lang="en-US" sz="1100" kern="1200"/>
        </a:p>
      </dsp:txBody>
      <dsp:txXfrm>
        <a:off x="3985763" y="3816324"/>
        <a:ext cx="2913887" cy="762366"/>
      </dsp:txXfrm>
    </dsp:sp>
    <dsp:sp modelId="{DD141741-A087-45C9-A6F3-99D076A4DB5D}">
      <dsp:nvSpPr>
        <dsp:cNvPr id="0" name=""/>
        <dsp:cNvSpPr/>
      </dsp:nvSpPr>
      <dsp:spPr>
        <a:xfrm>
          <a:off x="0" y="4769282"/>
          <a:ext cx="6900512" cy="76236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E24DD2-356A-45EC-9647-DD562A538192}">
      <dsp:nvSpPr>
        <dsp:cNvPr id="0" name=""/>
        <dsp:cNvSpPr/>
      </dsp:nvSpPr>
      <dsp:spPr>
        <a:xfrm>
          <a:off x="230615" y="4940814"/>
          <a:ext cx="419301" cy="41930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8B71E6-0DC0-4563-BCB8-E4ADC191F71D}">
      <dsp:nvSpPr>
        <dsp:cNvPr id="0" name=""/>
        <dsp:cNvSpPr/>
      </dsp:nvSpPr>
      <dsp:spPr>
        <a:xfrm>
          <a:off x="880533" y="4769282"/>
          <a:ext cx="3105230" cy="762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684" tIns="80684" rIns="80684" bIns="8068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kern="1200"/>
            <a:t>Evitar ações que depreciem a universidade:</a:t>
          </a:r>
          <a:endParaRPr lang="en-US" sz="1900" kern="1200"/>
        </a:p>
      </dsp:txBody>
      <dsp:txXfrm>
        <a:off x="880533" y="4769282"/>
        <a:ext cx="3105230" cy="762366"/>
      </dsp:txXfrm>
    </dsp:sp>
    <dsp:sp modelId="{9F3A1B49-D037-46EE-9C26-07AB11351DA0}">
      <dsp:nvSpPr>
        <dsp:cNvPr id="0" name=""/>
        <dsp:cNvSpPr/>
      </dsp:nvSpPr>
      <dsp:spPr>
        <a:xfrm>
          <a:off x="3985763" y="4769282"/>
          <a:ext cx="2913887" cy="762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684" tIns="80684" rIns="80684" bIns="80684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É fundamental que o estudante extensionista evite ações que possam prejudicar a imagem da universidade ou da própria comunidade</a:t>
          </a:r>
          <a:endParaRPr lang="en-US" sz="1100" kern="1200"/>
        </a:p>
      </dsp:txBody>
      <dsp:txXfrm>
        <a:off x="3985763" y="4769282"/>
        <a:ext cx="2913887" cy="76236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BA4267-282E-4F83-8E43-4DEFDE427C9D}">
      <dsp:nvSpPr>
        <dsp:cNvPr id="0" name=""/>
        <dsp:cNvSpPr/>
      </dsp:nvSpPr>
      <dsp:spPr>
        <a:xfrm>
          <a:off x="0" y="151956"/>
          <a:ext cx="6900512" cy="83845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 dirty="0"/>
            <a:t>Atividade Social (1º e 2º Bimestre)</a:t>
          </a:r>
          <a:endParaRPr lang="en-US" sz="2100" kern="1200" dirty="0"/>
        </a:p>
      </dsp:txBody>
      <dsp:txXfrm>
        <a:off x="40930" y="192886"/>
        <a:ext cx="6818652" cy="756591"/>
      </dsp:txXfrm>
    </dsp:sp>
    <dsp:sp modelId="{5A051394-6B90-406C-B87D-E5CA9DCEE7BC}">
      <dsp:nvSpPr>
        <dsp:cNvPr id="0" name=""/>
        <dsp:cNvSpPr/>
      </dsp:nvSpPr>
      <dsp:spPr>
        <a:xfrm>
          <a:off x="0" y="990407"/>
          <a:ext cx="6900512" cy="12388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9091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600" b="1" kern="1200"/>
            <a:t>Realizar atividade que contribua com a sociedade.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600" kern="1200"/>
            <a:t>Exemplos: Atividades com crianças carentes; Ações com Idosos; Trabalho Voluntário em Ongs (Culturais, Proteção dos Animais, Assistência Social, Direitos Humanos) Ações para reduzir impactos ambientais Ações solidárias na Igreja...</a:t>
          </a:r>
          <a:endParaRPr lang="en-US" sz="1600" kern="1200"/>
        </a:p>
      </dsp:txBody>
      <dsp:txXfrm>
        <a:off x="0" y="990407"/>
        <a:ext cx="6900512" cy="1238895"/>
      </dsp:txXfrm>
    </dsp:sp>
    <dsp:sp modelId="{99300C0D-DDD9-4DBA-9F65-62C0F98A87E2}">
      <dsp:nvSpPr>
        <dsp:cNvPr id="0" name=""/>
        <dsp:cNvSpPr/>
      </dsp:nvSpPr>
      <dsp:spPr>
        <a:xfrm>
          <a:off x="0" y="2229302"/>
          <a:ext cx="6900512" cy="838451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 dirty="0"/>
            <a:t>Mapeamento de Iniciativas Comunitárias com apoio do ChatGPT (1º Bimestre)</a:t>
          </a:r>
          <a:endParaRPr lang="en-US" sz="2100" kern="1200" dirty="0"/>
        </a:p>
      </dsp:txBody>
      <dsp:txXfrm>
        <a:off x="40930" y="2270232"/>
        <a:ext cx="6818652" cy="756591"/>
      </dsp:txXfrm>
    </dsp:sp>
    <dsp:sp modelId="{98DA45DD-2228-46B6-B8D5-AFD73126F69B}">
      <dsp:nvSpPr>
        <dsp:cNvPr id="0" name=""/>
        <dsp:cNvSpPr/>
      </dsp:nvSpPr>
      <dsp:spPr>
        <a:xfrm>
          <a:off x="0" y="3067753"/>
          <a:ext cx="6900512" cy="7389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9091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600" b="1" kern="1200"/>
            <a:t>Identificar, mapear e analisar criticamente duas ou mais iniciativas comunitárias reais</a:t>
          </a:r>
          <a:r>
            <a:rPr lang="pt-BR" sz="1600" kern="1200"/>
            <a:t>, associadas a alguma área de interesse social (educação, meio ambiente, saúde, cultura, inclusão digital etc.).</a:t>
          </a:r>
          <a:endParaRPr lang="en-US" sz="1600" kern="1200"/>
        </a:p>
      </dsp:txBody>
      <dsp:txXfrm>
        <a:off x="0" y="3067753"/>
        <a:ext cx="6900512" cy="738990"/>
      </dsp:txXfrm>
    </dsp:sp>
    <dsp:sp modelId="{A5D7C2E7-FE77-48F3-BE9A-0322201494BE}">
      <dsp:nvSpPr>
        <dsp:cNvPr id="0" name=""/>
        <dsp:cNvSpPr/>
      </dsp:nvSpPr>
      <dsp:spPr>
        <a:xfrm>
          <a:off x="0" y="3806743"/>
          <a:ext cx="6900512" cy="838451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 dirty="0"/>
            <a:t>Planejamento Fictício de Ação Extensionista com apoio do ChatGPT (2º Bimestre)</a:t>
          </a:r>
          <a:endParaRPr lang="en-US" sz="2100" kern="1200" dirty="0"/>
        </a:p>
      </dsp:txBody>
      <dsp:txXfrm>
        <a:off x="40930" y="3847673"/>
        <a:ext cx="6818652" cy="756591"/>
      </dsp:txXfrm>
    </dsp:sp>
    <dsp:sp modelId="{AAB474CA-8CF8-49D7-AEBE-C0129A581BDF}">
      <dsp:nvSpPr>
        <dsp:cNvPr id="0" name=""/>
        <dsp:cNvSpPr/>
      </dsp:nvSpPr>
      <dsp:spPr>
        <a:xfrm>
          <a:off x="0" y="4645194"/>
          <a:ext cx="6900512" cy="7389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9091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600" kern="1200"/>
            <a:t>Realizar um </a:t>
          </a:r>
          <a:r>
            <a:rPr lang="pt-BR" sz="1600" b="1" kern="1200"/>
            <a:t>exercício de simulação planejada</a:t>
          </a:r>
          <a:r>
            <a:rPr lang="pt-BR" sz="1600" kern="1200"/>
            <a:t>, no qual o(a) estudante imaginará e descreverá uma ação extensionista fictícia, com base em demandas reais da sociedade.</a:t>
          </a:r>
          <a:endParaRPr lang="en-US" sz="1600" kern="1200"/>
        </a:p>
      </dsp:txBody>
      <dsp:txXfrm>
        <a:off x="0" y="4645194"/>
        <a:ext cx="6900512" cy="73899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56174A-6A4B-4A8A-AE9A-9F5509767E21}">
      <dsp:nvSpPr>
        <dsp:cNvPr id="0" name=""/>
        <dsp:cNvSpPr/>
      </dsp:nvSpPr>
      <dsp:spPr>
        <a:xfrm>
          <a:off x="0" y="283787"/>
          <a:ext cx="10515600" cy="15970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500" kern="1200"/>
            <a:t>Prof. Luiz Romão	</a:t>
          </a:r>
          <a:endParaRPr lang="en-US" sz="6500" kern="1200"/>
        </a:p>
      </dsp:txBody>
      <dsp:txXfrm>
        <a:off x="77962" y="361749"/>
        <a:ext cx="10359676" cy="1441126"/>
      </dsp:txXfrm>
    </dsp:sp>
    <dsp:sp modelId="{A1E7E17F-AA07-4321-BED3-7DC7190C6004}">
      <dsp:nvSpPr>
        <dsp:cNvPr id="0" name=""/>
        <dsp:cNvSpPr/>
      </dsp:nvSpPr>
      <dsp:spPr>
        <a:xfrm>
          <a:off x="0" y="2068038"/>
          <a:ext cx="10515600" cy="159705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500" kern="1200"/>
            <a:t>luiz.melo@univille.br</a:t>
          </a:r>
          <a:endParaRPr lang="en-US" sz="6500" kern="1200"/>
        </a:p>
      </dsp:txBody>
      <dsp:txXfrm>
        <a:off x="77962" y="2146000"/>
        <a:ext cx="10359676" cy="14411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BF45DC-574B-DF95-6477-A5D9DDB642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46FE2DD-6410-C530-F113-2B5DC963D6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F9F1651-14F7-1B70-1A0F-D66A7AEE4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85706-F908-4BE6-85CD-1AD39B4B14BB}" type="datetimeFigureOut">
              <a:rPr lang="pt-BR" smtClean="0"/>
              <a:t>14/08/2025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B5E85DA-8162-51F0-E320-6883554F3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75DC046-8097-0ED4-09C1-E7F3978B7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086F0-BB5F-4AF6-B828-D1F146F17B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1595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0AB452-FF7D-AE78-1B56-052F9E878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EB31FF-B680-B9C2-7725-33C8E947C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8CF57D2-48DA-9EE2-DC6A-B76A69415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85706-F908-4BE6-85CD-1AD39B4B14BB}" type="datetimeFigureOut">
              <a:rPr lang="pt-BR" smtClean="0"/>
              <a:t>14/08/2025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6A3816D-7463-DEB5-0E60-16260E729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F48E86B-19DE-825A-0CC3-C4E0E3DF2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086F0-BB5F-4AF6-B828-D1F146F17B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9969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A722A3-5843-8C67-9A64-01C98F2C5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178EAFD-D536-FDF0-0389-1C048BF976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9EDBD4-11A3-14D3-DF60-A6609E061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85706-F908-4BE6-85CD-1AD39B4B14BB}" type="datetimeFigureOut">
              <a:rPr lang="pt-BR" smtClean="0"/>
              <a:t>14/08/2025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303B6F6-FF69-C5D3-ED6A-C911D00AF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9EC4FC0-AABB-5076-C46A-1ECC375DD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086F0-BB5F-4AF6-B828-D1F146F17B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5750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28ABC8-999E-319A-1FE4-D65482915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DA50D7-D64F-D95C-CEB8-A21F386BE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7DD8199-4099-3A73-C2FC-BF30F9F7AF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818B9BB-E640-BF70-E4F5-2C53E6AE1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85706-F908-4BE6-85CD-1AD39B4B14BB}" type="datetimeFigureOut">
              <a:rPr lang="pt-BR" smtClean="0"/>
              <a:t>14/08/2025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D6AC7B9-C2AA-7027-66F7-002B8996A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0F23B4B-3176-52EC-DC3B-1B4465D79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086F0-BB5F-4AF6-B828-D1F146F17B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3731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483E-AF20-B56C-65A3-F2653B89C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3202810-8F3E-F7CF-7419-53E80DBFEC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27D430F-7355-9B4F-E878-29F439F7C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E4556E4-40CE-E7E2-06B6-4649C69D4F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1C5F26F-DA5B-DCCB-4FF5-712518F762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20369D6-89F3-57A2-C7ED-677E74719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85706-F908-4BE6-85CD-1AD39B4B14BB}" type="datetimeFigureOut">
              <a:rPr lang="pt-BR" smtClean="0"/>
              <a:t>14/08/2025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FEE7184-7364-953F-0726-01B650309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0973F16-B71F-E60A-78CB-820F5419A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086F0-BB5F-4AF6-B828-D1F146F17B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4394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B1E5E1-6506-E318-8062-2D7C254F4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1B3D8AF-35D8-8866-1B3C-7342F3E26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85706-F908-4BE6-85CD-1AD39B4B14BB}" type="datetimeFigureOut">
              <a:rPr lang="pt-BR" smtClean="0"/>
              <a:t>14/08/2025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51C3ED-3B8A-8FE9-78CC-83A00412A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3AAAA0-A786-1A02-9319-04EA01439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086F0-BB5F-4AF6-B828-D1F146F17B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5301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D371875-7BA6-9199-24E4-1F28E8A5C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85706-F908-4BE6-85CD-1AD39B4B14BB}" type="datetimeFigureOut">
              <a:rPr lang="pt-BR" smtClean="0"/>
              <a:t>14/08/2025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CD90CB9-3A53-D736-648B-8CBEFE8E6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C48ED82-E8F4-6832-2D1B-ADF90915D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086F0-BB5F-4AF6-B828-D1F146F17B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0604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7CDC39-3EA5-9C17-7525-F5B59A9B7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F530E8-2FA1-1551-1DFA-833A3FA75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47497FD-431A-1AA2-8FB5-5815664E2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11E45FA-48E4-CF99-A79A-7731EE182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85706-F908-4BE6-85CD-1AD39B4B14BB}" type="datetimeFigureOut">
              <a:rPr lang="pt-BR" smtClean="0"/>
              <a:t>14/08/2025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F226C3C-0302-6618-18D3-86F97BA0A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F00B5B5-CE1C-B7CD-F536-FE0003AAD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086F0-BB5F-4AF6-B828-D1F146F17B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0274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B1B7FB-3814-EA56-2526-516FB7D39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3301C36-F375-CDF2-83C3-6C9031AFE0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64CCD1C-4F48-794D-5D67-821F634CC8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204A52B-538A-1D8B-7F88-AC2E402F9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85706-F908-4BE6-85CD-1AD39B4B14BB}" type="datetimeFigureOut">
              <a:rPr lang="pt-BR" smtClean="0"/>
              <a:t>14/08/2025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739E90B-F307-965B-F39B-C42E5D3EA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2D7434E-54CD-B4D6-5E67-3B7467224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086F0-BB5F-4AF6-B828-D1F146F17B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7124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AF9B2-60A0-C4BA-B55E-762B7010A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AF10684-6A2D-CBF1-A7BD-1146B9E0A9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538C865-E727-C56A-C545-ECFEA7B75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85706-F908-4BE6-85CD-1AD39B4B14BB}" type="datetimeFigureOut">
              <a:rPr lang="pt-BR" smtClean="0"/>
              <a:t>14/08/2025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B29071-239B-6003-2DF3-50C4B6767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1285DE-D842-C2BB-CCE7-83BCE227D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086F0-BB5F-4AF6-B828-D1F146F17B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6261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80D46B6-EC73-1F70-D60F-C127D5672B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E8239D2-F6F7-0BCE-62F9-E2952C3D32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F246624-7A91-C1AE-EC2D-DE8BFF6F0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85706-F908-4BE6-85CD-1AD39B4B14BB}" type="datetimeFigureOut">
              <a:rPr lang="pt-BR" smtClean="0"/>
              <a:t>14/08/2025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542439-8413-2BC3-5D0B-B75B93ED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70F3CF2-79D8-6F45-393D-4F9E66564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086F0-BB5F-4AF6-B828-D1F146F17B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50157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A9C042-E08E-4B47-BC43-A2CE8AAAC2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A361E6F-0338-4AE2-AA65-3D21D20E07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7253B2A-A562-41AD-B01A-071419405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6AA43-29B7-4366-B32C-449EF9E9A69F}" type="datetimeFigureOut">
              <a:rPr lang="pt-BR" smtClean="0"/>
              <a:t>14/08/2025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657F373-8312-4323-A2D6-4BA43D079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E63DC99-5C09-4D04-858E-4B0E41677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DDB29-E27E-458E-948A-C541F20E89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40211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59CBC8-0C43-492A-B0BD-2BAE7A25E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E4FB78-BE9D-4D4D-8E5E-053A088B7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0D0DECC-E2BC-4C5E-A376-A704D20BD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6AA43-29B7-4366-B32C-449EF9E9A69F}" type="datetimeFigureOut">
              <a:rPr lang="pt-BR" smtClean="0"/>
              <a:t>14/08/2025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9CE5D9B-5866-4C44-81B1-F4802C9E5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6AFAB0F-C311-4308-AB46-908CDE019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DDB29-E27E-458E-948A-C541F20E89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40975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E96F14-21A6-4395-9828-153207A1E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1B0AAB-6FAB-45B3-B8E3-5B57E882A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987AD54-1D2C-4621-93B6-E2EB18237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6AA43-29B7-4366-B32C-449EF9E9A69F}" type="datetimeFigureOut">
              <a:rPr lang="pt-BR" smtClean="0"/>
              <a:t>14/08/2025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A07F6D-9608-4CBF-9818-9F020F42F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856587-0A76-4365-A5E3-A1AE7781E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DDB29-E27E-458E-948A-C541F20E89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16269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EC3F8D-3DAC-4060-BB0C-039FF5FCC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364DFC-C176-4009-936C-F7099C1503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3A44F7C-7AC6-4733-8B95-1AFF55C3EE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01CDD40-C7EB-4307-9A27-F4860FE5F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6AA43-29B7-4366-B32C-449EF9E9A69F}" type="datetimeFigureOut">
              <a:rPr lang="pt-BR" smtClean="0"/>
              <a:t>14/08/2025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BEE3EFD-75B2-4AB6-B837-C967924D0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42FA251-B6B3-4711-AEF2-ACD32FE5C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DDB29-E27E-458E-948A-C541F20E89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23325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62EFFE-426F-489B-B9F1-2B3D1B130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DD04649-53C3-46E0-8DCC-BABFD7AE0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A79D616-F693-42CB-80BC-C66F6ABA67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2C99323-143E-4DAC-B877-174DE1BDAA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A12A73D-2E7F-44B4-B8F0-D83CBF7F3D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EB62DD6-7853-4E77-ADD0-62A2B42F1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6AA43-29B7-4366-B32C-449EF9E9A69F}" type="datetimeFigureOut">
              <a:rPr lang="pt-BR" smtClean="0"/>
              <a:t>14/08/2025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3214D13-6991-4F59-B0FA-D0C1544CC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476D2D0-C803-4C1C-9908-DC85E43D2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DDB29-E27E-458E-948A-C541F20E89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80227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09B8E1-7A3A-45B3-BE41-F52201F40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5BC4043-55D4-46F1-95CE-2C940C450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6AA43-29B7-4366-B32C-449EF9E9A69F}" type="datetimeFigureOut">
              <a:rPr lang="pt-BR" smtClean="0"/>
              <a:t>14/08/2025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F0C04E5-1D1D-48AF-8B2C-7DA495AE1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174CF56-5E76-42F5-B3E7-BE9E4BBDD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DDB29-E27E-458E-948A-C541F20E89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48212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6D8B718-54D7-436D-9467-04E53C88D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6AA43-29B7-4366-B32C-449EF9E9A69F}" type="datetimeFigureOut">
              <a:rPr lang="pt-BR" smtClean="0"/>
              <a:t>14/08/2025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790B6CF-51C0-4452-9F23-03B1A2A86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A9455BD-E6E1-4B1E-B745-4807805D8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DDB29-E27E-458E-948A-C541F20E89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9657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351765-8B19-4691-8DDC-14A2F3131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3C1590-1BC5-4C6A-A7B6-52B495616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3ACCD6F-6AF3-41D4-8281-65A70F5004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142E084-6F9E-4FEC-99CE-F47DE438D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6AA43-29B7-4366-B32C-449EF9E9A69F}" type="datetimeFigureOut">
              <a:rPr lang="pt-BR" smtClean="0"/>
              <a:t>14/08/2025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9E2161-65CF-40F1-9C12-13221381F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162784D-9277-4811-88D8-846695F13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DDB29-E27E-458E-948A-C541F20E89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59897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20CA59-ABEE-4D99-8A58-FF436F011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EE896CB-2EA6-4329-9992-30322871C3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98680FA-95AD-43DA-A454-BFC5D84A87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9AFB9F6-DA3D-400A-A799-6D8B4070B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6AA43-29B7-4366-B32C-449EF9E9A69F}" type="datetimeFigureOut">
              <a:rPr lang="pt-BR" smtClean="0"/>
              <a:t>14/08/2025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B810E87-D7D8-41A2-B1E8-A4CDAC6C2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EE2885C-047D-4E7C-B282-A5A0367A3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DDB29-E27E-458E-948A-C541F20E89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58967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A19B8B-C284-419A-BF6B-F4DF81C32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6B1D27C-88FF-49ED-9603-3B23647D7E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1906BAD-DFC5-4D16-80DA-2C0E3419E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6AA43-29B7-4366-B32C-449EF9E9A69F}" type="datetimeFigureOut">
              <a:rPr lang="pt-BR" smtClean="0"/>
              <a:t>14/08/2025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B43F79-B23B-43D2-BADA-DC466B157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8721BFA-8828-4CBB-80DC-FFC44B8DC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DDB29-E27E-458E-948A-C541F20E89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78644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4EA28ED-75EB-4243-BB06-26A3332D8F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BAE82D9-A0A0-45EF-8272-2F0B0AE7C9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5E5A35-D3A4-4623-9D42-C33664B4F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6AA43-29B7-4366-B32C-449EF9E9A69F}" type="datetimeFigureOut">
              <a:rPr lang="pt-BR" smtClean="0"/>
              <a:t>14/08/2025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4B560AD-D768-4F7E-9869-F0755B864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89C7163-4F88-4A43-8E7B-BE7F881C6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DDB29-E27E-458E-948A-C541F20E89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8473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D024D50-C2A7-0969-A0B2-F272F7D90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8D4D2A2-2A5F-D8F1-97C6-98489E621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0DAEDF-0AFD-0ED9-7139-6FF2888EE1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785706-F908-4BE6-85CD-1AD39B4B14BB}" type="datetimeFigureOut">
              <a:rPr lang="pt-BR" smtClean="0"/>
              <a:t>14/08/2025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437A60-8554-8282-EA4E-C8E15D80A7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E72B1ED-C708-FA4F-914C-E907B4B506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3086F0-BB5F-4AF6-B828-D1F146F17B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2978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3918C7F-9B67-45E5-B8F1-425D05BA0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CEEB1EF-0F66-4C6B-A23B-D433BCE2DB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5420C8F-7BD8-4941-9A0E-9079A9A925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B6AA43-29B7-4366-B32C-449EF9E9A69F}" type="datetimeFigureOut">
              <a:rPr lang="pt-BR" smtClean="0"/>
              <a:t>14/08/2025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7E3FE71-320D-4848-B5C8-2C64C57550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90EB7F6-8395-4A93-B8E6-BF304FB0DE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5DDB29-E27E-458E-948A-C541F20E89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4881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057094-E70F-4B97-A7D6-B4E3A9CCB4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45970" y="4737433"/>
            <a:ext cx="10146031" cy="2120566"/>
          </a:xfrm>
        </p:spPr>
        <p:txBody>
          <a:bodyPr>
            <a:normAutofit/>
          </a:bodyPr>
          <a:lstStyle/>
          <a:p>
            <a:pPr algn="r"/>
            <a:r>
              <a:rPr lang="pt-BR" sz="4000" b="1" dirty="0"/>
              <a:t>Mapeamento Comunitário, Escuta e Observação</a:t>
            </a:r>
            <a:br>
              <a:rPr lang="pt-BR" sz="4000" b="1" dirty="0"/>
            </a:br>
            <a:r>
              <a:rPr lang="pt-BR" sz="4000" b="1" dirty="0"/>
              <a:t>Prof. Luiz Romão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F15EE608-7404-4A7E-924D-AE8CA399ACB6}"/>
              </a:ext>
            </a:extLst>
          </p:cNvPr>
          <p:cNvSpPr txBox="1">
            <a:spLocks/>
          </p:cNvSpPr>
          <p:nvPr/>
        </p:nvSpPr>
        <p:spPr>
          <a:xfrm>
            <a:off x="1083324" y="110337"/>
            <a:ext cx="10025349" cy="12370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b="1" dirty="0">
                <a:solidFill>
                  <a:schemeClr val="accent1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VIVÊNCIAS DE EXTENSÃO I</a:t>
            </a:r>
          </a:p>
        </p:txBody>
      </p:sp>
      <p:pic>
        <p:nvPicPr>
          <p:cNvPr id="1026" name="Picture 2" descr="Atividades de extensão contribuem no desenvolvimento acadêmico e social |  Ensinando e Aprendendo | G1">
            <a:extLst>
              <a:ext uri="{FF2B5EF4-FFF2-40B4-BE49-F238E27FC236}">
                <a16:creationId xmlns:a16="http://schemas.microsoft.com/office/drawing/2014/main" id="{CB8AE4DB-D6CC-DFDB-797C-4052A58D96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334936"/>
            <a:ext cx="6827520" cy="3843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3151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6016840-F677-1DCA-7CCA-801312EF1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pt-BR" sz="4100" b="1">
                <a:solidFill>
                  <a:srgbClr val="FFFFFF"/>
                </a:solidFill>
              </a:rPr>
              <a:t>O que é comunidade?</a:t>
            </a:r>
            <a:endParaRPr lang="pt-BR" sz="410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05FD85-981E-E3F7-24FA-EC281CA42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319088"/>
            <a:ext cx="6906491" cy="6219824"/>
          </a:xfrm>
        </p:spPr>
        <p:txBody>
          <a:bodyPr anchor="ctr">
            <a:normAutofit/>
          </a:bodyPr>
          <a:lstStyle/>
          <a:p>
            <a:r>
              <a:rPr lang="pt-BR" sz="2000" b="1" dirty="0"/>
              <a:t>Território:</a:t>
            </a:r>
          </a:p>
          <a:p>
            <a:pPr lvl="1"/>
            <a:r>
              <a:rPr lang="pt-BR" sz="2000" dirty="0"/>
              <a:t>Pode ser definido como um espaço geográfico delimitado por fronteiras, onde ocorrem relações sociais, econômicas e políticas. </a:t>
            </a:r>
          </a:p>
          <a:p>
            <a:pPr lvl="1"/>
            <a:r>
              <a:rPr lang="pt-BR" sz="2000" dirty="0"/>
              <a:t>Pode ser entendido em diferentes escalas, desde o território pessoal até o território nacional. </a:t>
            </a:r>
          </a:p>
          <a:p>
            <a:r>
              <a:rPr lang="pt-BR" sz="2000" b="1" dirty="0"/>
              <a:t>Pertencimento:</a:t>
            </a:r>
          </a:p>
          <a:p>
            <a:pPr lvl="1"/>
            <a:r>
              <a:rPr lang="pt-BR" sz="2000" dirty="0"/>
              <a:t>É construído a partir da interação social e da identificação com valores, normas e cultura do grupo. </a:t>
            </a:r>
          </a:p>
          <a:p>
            <a:pPr lvl="1"/>
            <a:r>
              <a:rPr lang="pt-BR" sz="2000" dirty="0"/>
              <a:t>O pertencimento territorial pode gerar um sentimento de segurança, identidade e coesão social. </a:t>
            </a:r>
          </a:p>
          <a:p>
            <a:r>
              <a:rPr lang="pt-BR" sz="2000" b="1" dirty="0"/>
              <a:t>Identidade:</a:t>
            </a:r>
          </a:p>
          <a:p>
            <a:pPr lvl="1"/>
            <a:r>
              <a:rPr lang="pt-BR" sz="2000" dirty="0"/>
              <a:t>É a construção do "eu" em relação ao mundo, influenciada por fatores sociais, culturais e históricos. </a:t>
            </a:r>
          </a:p>
          <a:p>
            <a:pPr marL="0" indent="0" algn="ctr">
              <a:buNone/>
            </a:pPr>
            <a:r>
              <a:rPr lang="pt-BR" sz="2000" dirty="0"/>
              <a:t>	</a:t>
            </a:r>
          </a:p>
          <a:p>
            <a:pPr marL="0" indent="0" algn="ctr">
              <a:buNone/>
            </a:pPr>
            <a:r>
              <a:rPr lang="pt-BR" sz="2000" b="1" dirty="0"/>
              <a:t>Esses conceitos são importantes para entender as relações entre as pessoas e o espaço, e para analisar as dinâmicas sociais, culturais e políticas que moldam a vida em sociedade. </a:t>
            </a:r>
          </a:p>
        </p:txBody>
      </p:sp>
    </p:spTree>
    <p:extLst>
      <p:ext uri="{BB962C8B-B14F-4D97-AF65-F5344CB8AC3E}">
        <p14:creationId xmlns:p14="http://schemas.microsoft.com/office/powerpoint/2010/main" val="2410644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658A868-B070-19AC-BE3C-BE7CC6F8A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27" y="1153572"/>
            <a:ext cx="3575507" cy="4461163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FFFFFF"/>
                </a:solidFill>
              </a:rPr>
              <a:t>Escuta ativa e ética no contato com a comunidade</a:t>
            </a:r>
            <a:endParaRPr lang="pt-BR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Espaço Reservado para Conteúdo 2">
            <a:extLst>
              <a:ext uri="{FF2B5EF4-FFF2-40B4-BE49-F238E27FC236}">
                <a16:creationId xmlns:a16="http://schemas.microsoft.com/office/drawing/2014/main" id="{53E2DB07-3209-A552-9D9F-A655C826F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6526" y="506124"/>
            <a:ext cx="6906491" cy="6219824"/>
          </a:xfrm>
        </p:spPr>
        <p:txBody>
          <a:bodyPr anchor="ctr">
            <a:normAutofit lnSpcReduction="10000"/>
          </a:bodyPr>
          <a:lstStyle/>
          <a:p>
            <a:r>
              <a:rPr lang="pt-BR" sz="1800" b="1" dirty="0"/>
              <a:t>Atenção:</a:t>
            </a:r>
            <a:endParaRPr lang="pt-BR" sz="1800" dirty="0"/>
          </a:p>
          <a:p>
            <a:pPr lvl="1"/>
            <a:r>
              <a:rPr lang="pt-BR" sz="1800" dirty="0"/>
              <a:t>Concentrar-se totalmente na pessoa que está falando, evitando distrações e interrupções.</a:t>
            </a:r>
          </a:p>
          <a:p>
            <a:r>
              <a:rPr lang="pt-BR" sz="1800" b="1" dirty="0"/>
              <a:t>Compreensão:</a:t>
            </a:r>
            <a:endParaRPr lang="pt-BR" sz="1800" dirty="0"/>
          </a:p>
          <a:p>
            <a:pPr lvl="1"/>
            <a:r>
              <a:rPr lang="pt-BR" sz="1800" dirty="0"/>
              <a:t>Buscar entender a mensagem completa, incluindo as emoções e o contexto por trás das palavras.</a:t>
            </a:r>
          </a:p>
          <a:p>
            <a:r>
              <a:rPr lang="pt-BR" sz="1800" b="1" dirty="0"/>
              <a:t>Empatia:</a:t>
            </a:r>
            <a:endParaRPr lang="pt-BR" sz="1800" dirty="0"/>
          </a:p>
          <a:p>
            <a:pPr lvl="1"/>
            <a:r>
              <a:rPr lang="pt-BR" sz="1800" dirty="0"/>
              <a:t>Colocar-se no lugar do outro, mostrando compreensão e validação dos sentimentos.</a:t>
            </a:r>
          </a:p>
          <a:p>
            <a:r>
              <a:rPr lang="pt-BR" sz="1800" b="1" dirty="0"/>
              <a:t>Respeito:</a:t>
            </a:r>
            <a:endParaRPr lang="pt-BR" sz="1800" dirty="0"/>
          </a:p>
          <a:p>
            <a:pPr lvl="1"/>
            <a:r>
              <a:rPr lang="pt-BR" sz="1800" dirty="0"/>
              <a:t>Tratar a todos com dignidade e consideração, valorizando suas opiniões e experiências.</a:t>
            </a:r>
          </a:p>
          <a:p>
            <a:r>
              <a:rPr lang="pt-BR" sz="1800" b="1" dirty="0"/>
              <a:t>Confidencialidade:</a:t>
            </a:r>
            <a:endParaRPr lang="pt-BR" sz="1800" dirty="0"/>
          </a:p>
          <a:p>
            <a:pPr lvl="1"/>
            <a:r>
              <a:rPr lang="pt-BR" sz="1800" dirty="0"/>
              <a:t>Manter a privacidade das informações compartilhadas, especialmente em situações sensíveis.</a:t>
            </a:r>
          </a:p>
          <a:p>
            <a:r>
              <a:rPr lang="pt-BR" sz="1800" b="1" dirty="0"/>
              <a:t>Imparcialidade:</a:t>
            </a:r>
            <a:endParaRPr lang="pt-BR" sz="1800" dirty="0"/>
          </a:p>
          <a:p>
            <a:pPr lvl="1"/>
            <a:r>
              <a:rPr lang="pt-BR" sz="1800" dirty="0"/>
              <a:t>Evitar preconceitos e julgamentos, ouvindo todas as partes com a mesma atenção e respeito.</a:t>
            </a:r>
          </a:p>
          <a:p>
            <a:r>
              <a:rPr lang="pt-BR" sz="1800" b="1" dirty="0"/>
              <a:t>Responsabilidade:</a:t>
            </a:r>
            <a:endParaRPr lang="pt-BR" sz="1800" dirty="0"/>
          </a:p>
          <a:p>
            <a:pPr lvl="1"/>
            <a:r>
              <a:rPr lang="pt-BR" sz="1800" dirty="0"/>
              <a:t>Assumir a responsabilidade pelas ações e palavras, buscando reparar eventuais erros e impactos negativos</a:t>
            </a:r>
            <a:r>
              <a:rPr lang="pt-BR" sz="1000" dirty="0"/>
              <a:t>. </a:t>
            </a:r>
          </a:p>
        </p:txBody>
      </p:sp>
    </p:spTree>
    <p:extLst>
      <p:ext uri="{BB962C8B-B14F-4D97-AF65-F5344CB8AC3E}">
        <p14:creationId xmlns:p14="http://schemas.microsoft.com/office/powerpoint/2010/main" val="1488716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C8F924F-6910-3D8C-339F-7B7A8185A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pt-BR" sz="4100" b="1">
                <a:solidFill>
                  <a:srgbClr val="FFFFFF"/>
                </a:solidFill>
              </a:rPr>
              <a:t>Mapeamento comunitário</a:t>
            </a:r>
            <a:endParaRPr lang="pt-BR" sz="4100">
              <a:solidFill>
                <a:srgbClr val="FFFFFF"/>
              </a:solidFill>
            </a:endParaRPr>
          </a:p>
        </p:txBody>
      </p:sp>
      <p:sp>
        <p:nvSpPr>
          <p:cNvPr id="28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3FC9745-6A39-81FC-6FFD-7EEEC4C3A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 fontScale="85000" lnSpcReduction="10000"/>
          </a:bodyPr>
          <a:lstStyle/>
          <a:p>
            <a:r>
              <a:rPr lang="pt-BR" sz="2400" dirty="0"/>
              <a:t>A análise de atores sociais, recursos locais, espaços e conflitos envolve a identificação de agentes sociais relevantes, seus recursos disponíveis, os espaços onde atuam e os conflitos que emergem de suas interações.</a:t>
            </a:r>
          </a:p>
          <a:p>
            <a:pPr fontAlgn="ctr"/>
            <a:r>
              <a:rPr lang="pt-BR" sz="2400" b="1" dirty="0"/>
              <a:t>Atores Sociais: </a:t>
            </a:r>
            <a:r>
              <a:rPr lang="pt-BR" sz="2400" dirty="0"/>
              <a:t>São indivíduos ou grupos que desempenham um papel ativo em determinada situação, seja por meio de suas ações, decisões ou influência. Podem ser: </a:t>
            </a:r>
          </a:p>
          <a:p>
            <a:pPr lvl="1"/>
            <a:r>
              <a:rPr lang="pt-BR" b="1" dirty="0"/>
              <a:t>Indivíduos:</a:t>
            </a:r>
            <a:r>
              <a:rPr lang="pt-BR" dirty="0"/>
              <a:t> Moradores locais, líderes comunitários, empresários, etc.</a:t>
            </a:r>
          </a:p>
          <a:p>
            <a:pPr lvl="1"/>
            <a:r>
              <a:rPr lang="pt-BR" b="1" dirty="0"/>
              <a:t>Grupos:</a:t>
            </a:r>
            <a:r>
              <a:rPr lang="pt-BR" dirty="0"/>
              <a:t> Associações de moradores, ONGs, cooperativas, partidos políticos, etc.</a:t>
            </a:r>
          </a:p>
          <a:p>
            <a:pPr lvl="1"/>
            <a:r>
              <a:rPr lang="pt-BR" b="1" dirty="0"/>
              <a:t>Instituições:</a:t>
            </a:r>
            <a:r>
              <a:rPr lang="pt-BR" dirty="0"/>
              <a:t> Órgãos públicos, empresas, escolas, igrejas, etc.</a:t>
            </a:r>
          </a:p>
          <a:p>
            <a:r>
              <a:rPr lang="pt-BR" sz="2400" b="1" dirty="0"/>
              <a:t>Recursos Locais: </a:t>
            </a:r>
            <a:r>
              <a:rPr lang="pt-BR" sz="2400" dirty="0"/>
              <a:t>São os elementos disponíveis em um determinado espaço que podem ser utilizados pelos atores sociais para alcançar seus objetivos.</a:t>
            </a:r>
          </a:p>
          <a:p>
            <a:r>
              <a:rPr lang="pt-BR" sz="2400" b="1" dirty="0"/>
              <a:t>Espaços:</a:t>
            </a:r>
            <a:r>
              <a:rPr lang="pt-BR" sz="2400" dirty="0"/>
              <a:t> São os locais físicos e sociais onde os atores sociais interagem e onde os recursos são utilizados e distribuídos.</a:t>
            </a:r>
          </a:p>
          <a:p>
            <a:endParaRPr lang="pt-BR" sz="1700" dirty="0"/>
          </a:p>
        </p:txBody>
      </p:sp>
    </p:spTree>
    <p:extLst>
      <p:ext uri="{BB962C8B-B14F-4D97-AF65-F5344CB8AC3E}">
        <p14:creationId xmlns:p14="http://schemas.microsoft.com/office/powerpoint/2010/main" val="738925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5DB502E-D86C-C9E8-CD8E-A00CED154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O papel do extensionista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D97EA34C-8D17-A696-F2A4-D96BBDBBF7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0313000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43782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3D701A6-22C6-4A92-8C9C-DE89DF452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pt-BR" sz="5400" b="1"/>
              <a:t>Princípios da atuação em campo</a:t>
            </a:r>
            <a:endParaRPr lang="pt-BR" sz="5400"/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Espaço Reservado para Conteúdo 2">
            <a:extLst>
              <a:ext uri="{FF2B5EF4-FFF2-40B4-BE49-F238E27FC236}">
                <a16:creationId xmlns:a16="http://schemas.microsoft.com/office/drawing/2014/main" id="{36FEF162-CB6A-11D5-4428-E81C3C582E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3971758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26743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BC6076C-5DE8-E837-F844-588D7F21B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pt-BR" sz="5400"/>
              <a:t>Atividades da Disciplina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58A93B14-1AB0-116F-627F-D4EECA214C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3541856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39284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7F8324-9FDD-A515-66A0-0E8EE8AD5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450B98D-CD92-E3E9-9D06-41491D8B4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pt-BR"/>
              <a:t>Cronograma Turma ES C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7AEED429-45BC-0BAA-E89D-BFCB5BEE0B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3952574"/>
              </p:ext>
            </p:extLst>
          </p:nvPr>
        </p:nvGraphicFramePr>
        <p:xfrm>
          <a:off x="1229212" y="1926266"/>
          <a:ext cx="9733576" cy="4357526"/>
        </p:xfrm>
        <a:graphic>
          <a:graphicData uri="http://schemas.openxmlformats.org/drawingml/2006/table">
            <a:tbl>
              <a:tblPr firstRow="1" bandRow="1">
                <a:solidFill>
                  <a:srgbClr val="404040"/>
                </a:solidFill>
                <a:tableStyleId>{5C22544A-7EE6-4342-B048-85BDC9FD1C3A}</a:tableStyleId>
              </a:tblPr>
              <a:tblGrid>
                <a:gridCol w="4849488">
                  <a:extLst>
                    <a:ext uri="{9D8B030D-6E8A-4147-A177-3AD203B41FA5}">
                      <a16:colId xmlns:a16="http://schemas.microsoft.com/office/drawing/2014/main" val="2133663254"/>
                    </a:ext>
                  </a:extLst>
                </a:gridCol>
                <a:gridCol w="4884088">
                  <a:extLst>
                    <a:ext uri="{9D8B030D-6E8A-4147-A177-3AD203B41FA5}">
                      <a16:colId xmlns:a16="http://schemas.microsoft.com/office/drawing/2014/main" val="4120923870"/>
                    </a:ext>
                  </a:extLst>
                </a:gridCol>
              </a:tblGrid>
              <a:tr h="711589">
                <a:tc>
                  <a:txBody>
                    <a:bodyPr/>
                    <a:lstStyle/>
                    <a:p>
                      <a:r>
                        <a:rPr lang="pt-BR" sz="2800" b="0" cap="none" spc="0">
                          <a:solidFill>
                            <a:schemeClr val="bg1"/>
                          </a:solidFill>
                        </a:rPr>
                        <a:t>1º Bimestre</a:t>
                      </a:r>
                    </a:p>
                  </a:txBody>
                  <a:tcPr marL="197732" marR="197732" marT="156235" marB="9886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800" b="0" cap="none" spc="0">
                          <a:solidFill>
                            <a:schemeClr val="bg1"/>
                          </a:solidFill>
                        </a:rPr>
                        <a:t>2º Bimestre</a:t>
                      </a:r>
                    </a:p>
                  </a:txBody>
                  <a:tcPr marL="197732" marR="197732" marT="156235" marB="9886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711873"/>
                  </a:ext>
                </a:extLst>
              </a:tr>
              <a:tr h="6389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300" cap="none" spc="0" dirty="0">
                          <a:solidFill>
                            <a:schemeClr val="bg1"/>
                          </a:solidFill>
                        </a:rPr>
                        <a:t>28/08 – Tira Dúvidas </a:t>
                      </a:r>
                      <a:r>
                        <a:rPr lang="pt-BR" sz="2300" cap="none" spc="0">
                          <a:solidFill>
                            <a:schemeClr val="bg1"/>
                          </a:solidFill>
                        </a:rPr>
                        <a:t>(presencial)</a:t>
                      </a:r>
                      <a:endParaRPr lang="pt-BR" sz="2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97732" marR="197732" marT="156235" marB="9886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0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97732" marR="197732" marT="156235" marB="988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1837022"/>
                  </a:ext>
                </a:extLst>
              </a:tr>
              <a:tr h="900581">
                <a:tc>
                  <a:txBody>
                    <a:bodyPr/>
                    <a:lstStyle/>
                    <a:p>
                      <a:r>
                        <a:rPr lang="pt-BR" sz="2000" cap="none" spc="0">
                          <a:solidFill>
                            <a:schemeClr val="bg1"/>
                          </a:solidFill>
                        </a:rPr>
                        <a:t>01/10 – Envio Formulário Atividade Social 1</a:t>
                      </a:r>
                    </a:p>
                  </a:txBody>
                  <a:tcPr marL="197732" marR="197732" marT="156235" marB="988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cap="none" spc="0">
                          <a:solidFill>
                            <a:schemeClr val="bg1"/>
                          </a:solidFill>
                        </a:rPr>
                        <a:t>26/11 – Envio Formulário Atividade Social 2</a:t>
                      </a:r>
                    </a:p>
                  </a:txBody>
                  <a:tcPr marL="197732" marR="197732" marT="156235" marB="988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431461"/>
                  </a:ext>
                </a:extLst>
              </a:tr>
              <a:tr h="1205875">
                <a:tc>
                  <a:txBody>
                    <a:bodyPr/>
                    <a:lstStyle/>
                    <a:p>
                      <a:r>
                        <a:rPr lang="pt-BR" sz="2000" cap="none" spc="0">
                          <a:solidFill>
                            <a:schemeClr val="bg1"/>
                          </a:solidFill>
                        </a:rPr>
                        <a:t>02/10 – Seminário Relato de Experiências- Atividade Social 1 (presencial)</a:t>
                      </a:r>
                    </a:p>
                  </a:txBody>
                  <a:tcPr marL="197732" marR="197732" marT="156235" marB="988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cap="none" spc="0">
                          <a:solidFill>
                            <a:schemeClr val="bg1"/>
                          </a:solidFill>
                        </a:rPr>
                        <a:t>27/11 – Seminário Relato de Experiências- Atividade Social 2 (presencial)</a:t>
                      </a:r>
                    </a:p>
                  </a:txBody>
                  <a:tcPr marL="197732" marR="197732" marT="156235" marB="988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7846087"/>
                  </a:ext>
                </a:extLst>
              </a:tr>
              <a:tr h="9005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000" cap="none" spc="0">
                          <a:solidFill>
                            <a:schemeClr val="bg1"/>
                          </a:solidFill>
                        </a:rPr>
                        <a:t>03/10 – Envio Relatório Mapeamento de Iniciativas Comunitárias </a:t>
                      </a:r>
                    </a:p>
                  </a:txBody>
                  <a:tcPr marL="197732" marR="197732" marT="156235" marB="988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000" cap="none" spc="0" dirty="0">
                          <a:solidFill>
                            <a:schemeClr val="bg1"/>
                          </a:solidFill>
                        </a:rPr>
                        <a:t>28/11 – Envio Relatório Planejamento Fictício de Ação Extensionista</a:t>
                      </a:r>
                    </a:p>
                  </a:txBody>
                  <a:tcPr marL="197732" marR="197732" marT="156235" marB="988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933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0076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957F2E4-5E51-EFC4-16AB-504060431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pt-BR" sz="3800" b="1" i="0" dirty="0">
                <a:effectLst/>
                <a:latin typeface="Noto Sans" panose="020B0502040504020204" pitchFamily="34" charset="0"/>
              </a:rPr>
              <a:t>Lista de Organizações</a:t>
            </a:r>
            <a:br>
              <a:rPr lang="pt-BR" sz="3800" b="1" i="0" dirty="0">
                <a:effectLst/>
                <a:latin typeface="Noto Sans" panose="020B0502040504020204" pitchFamily="34" charset="0"/>
              </a:rPr>
            </a:br>
            <a:endParaRPr lang="pt-BR" sz="38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60578BEB-3D24-ED60-AB5D-3A14BC65F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0720" y="548640"/>
            <a:ext cx="2370597" cy="5939709"/>
          </a:xfrm>
        </p:spPr>
        <p:txBody>
          <a:bodyPr anchor="ctr">
            <a:normAutofit lnSpcReduction="10000"/>
          </a:bodyPr>
          <a:lstStyle/>
          <a:p>
            <a:r>
              <a:rPr lang="pt-BR" sz="1600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ABCD da Educação</a:t>
            </a:r>
          </a:p>
          <a:p>
            <a:r>
              <a:rPr lang="pt-BR" sz="1600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Abrigo Animal de Joinville </a:t>
            </a:r>
          </a:p>
          <a:p>
            <a:r>
              <a:rPr lang="pt-BR" sz="1600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Casa de Levi/Eis Me Aqui</a:t>
            </a:r>
          </a:p>
          <a:p>
            <a:r>
              <a:rPr lang="pt-BR" sz="1600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Ecos de Esperança</a:t>
            </a:r>
          </a:p>
          <a:p>
            <a:r>
              <a:rPr lang="pt-BR" sz="1600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Hospital Infantil de Joinville </a:t>
            </a:r>
          </a:p>
          <a:p>
            <a:r>
              <a:rPr lang="pt-BR" sz="1600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Instituto |Esperança</a:t>
            </a:r>
          </a:p>
          <a:p>
            <a:r>
              <a:rPr lang="pt-BR" sz="1600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JEPS Jovens Escolhidos pelo Senhor</a:t>
            </a:r>
          </a:p>
          <a:p>
            <a:r>
              <a:rPr lang="pt-BR" sz="1600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Lar de Idosos Cuidar </a:t>
            </a:r>
          </a:p>
          <a:p>
            <a:r>
              <a:rPr lang="pt-BR" sz="1600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Lar de Idosos Idade Feliz </a:t>
            </a:r>
          </a:p>
          <a:p>
            <a:r>
              <a:rPr lang="pt-BR" sz="1600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Lar de Idosos Manoel Peres </a:t>
            </a:r>
          </a:p>
          <a:p>
            <a:r>
              <a:rPr lang="pt-BR" sz="1600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Lar Emanuel,</a:t>
            </a:r>
          </a:p>
          <a:p>
            <a:r>
              <a:rPr lang="pt-BR" sz="1600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Lar Renascer,</a:t>
            </a:r>
          </a:p>
          <a:p>
            <a:r>
              <a:rPr lang="pt-BR" sz="1600" kern="100" dirty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NAIPE</a:t>
            </a:r>
            <a:endParaRPr lang="pt-BR" sz="18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CFA9E3BD-056A-3CEC-EEA2-706890C9A7FE}"/>
              </a:ext>
            </a:extLst>
          </p:cNvPr>
          <p:cNvSpPr txBox="1">
            <a:spLocks/>
          </p:cNvSpPr>
          <p:nvPr/>
        </p:nvSpPr>
        <p:spPr>
          <a:xfrm>
            <a:off x="9571913" y="721360"/>
            <a:ext cx="2502225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Fundação Vida Verde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IES Instituto Esperança - Morro do Meio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Igreja Luterana São Marcos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Igreja Mundial do Poder de Deus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Luz de Liz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MamaDiva</a:t>
            </a:r>
            <a:endParaRPr kumimoji="0" lang="pt-B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Paroquia Santo Antônio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Paróquia São Francisco de Assis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Paroquia São Marcos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Paróquia São Miguel Arcanjo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Patinhas Carentes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Por do Sol Casa de Repouso</a:t>
            </a:r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BDD530EB-8D8E-F380-CE96-AA4E5F9896C0}"/>
              </a:ext>
            </a:extLst>
          </p:cNvPr>
          <p:cNvSpPr txBox="1">
            <a:spLocks/>
          </p:cNvSpPr>
          <p:nvPr/>
        </p:nvSpPr>
        <p:spPr>
          <a:xfrm>
            <a:off x="7201317" y="713232"/>
            <a:ext cx="2255782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6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Projeto Mães que se Apoiam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6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Projeto Saciar - Igreja Esperança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6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Turma do Gatil</a:t>
            </a: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APAE Joinville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Associação Patudos da Rua,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Associação Terapêutica Outra Chance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Casa de Repouso Feliz Idade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Casa do Adalto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Frada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6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Paróquia São Judas Tadeu</a:t>
            </a:r>
            <a:endParaRPr kumimoji="0" lang="pt-B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5980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Tipos de perguntas para uma pesquisa online | QuestionPro">
            <a:extLst>
              <a:ext uri="{FF2B5EF4-FFF2-40B4-BE49-F238E27FC236}">
                <a16:creationId xmlns:a16="http://schemas.microsoft.com/office/drawing/2014/main" id="{B48EACE9-4060-9C43-1E60-F8109E4F8B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67089" y="643467"/>
            <a:ext cx="7657821" cy="5571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025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222B353-7BE2-DB23-D641-DEBE50F8D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t-BR" sz="5400"/>
              <a:t>Contato	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onnsiteX0" fmla="*/ 0 w 10424160"/>
              <a:gd name="connsiteY0" fmla="*/ 0 h 18288"/>
              <a:gd name="connsiteX1" fmla="*/ 903427 w 10424160"/>
              <a:gd name="connsiteY1" fmla="*/ 0 h 18288"/>
              <a:gd name="connsiteX2" fmla="*/ 1389888 w 10424160"/>
              <a:gd name="connsiteY2" fmla="*/ 0 h 18288"/>
              <a:gd name="connsiteX3" fmla="*/ 2189074 w 10424160"/>
              <a:gd name="connsiteY3" fmla="*/ 0 h 18288"/>
              <a:gd name="connsiteX4" fmla="*/ 2675534 w 10424160"/>
              <a:gd name="connsiteY4" fmla="*/ 0 h 18288"/>
              <a:gd name="connsiteX5" fmla="*/ 3370478 w 10424160"/>
              <a:gd name="connsiteY5" fmla="*/ 0 h 18288"/>
              <a:gd name="connsiteX6" fmla="*/ 4169664 w 10424160"/>
              <a:gd name="connsiteY6" fmla="*/ 0 h 18288"/>
              <a:gd name="connsiteX7" fmla="*/ 4551883 w 10424160"/>
              <a:gd name="connsiteY7" fmla="*/ 0 h 18288"/>
              <a:gd name="connsiteX8" fmla="*/ 4934102 w 10424160"/>
              <a:gd name="connsiteY8" fmla="*/ 0 h 18288"/>
              <a:gd name="connsiteX9" fmla="*/ 5837530 w 10424160"/>
              <a:gd name="connsiteY9" fmla="*/ 0 h 18288"/>
              <a:gd name="connsiteX10" fmla="*/ 6532474 w 10424160"/>
              <a:gd name="connsiteY10" fmla="*/ 0 h 18288"/>
              <a:gd name="connsiteX11" fmla="*/ 6914693 w 10424160"/>
              <a:gd name="connsiteY11" fmla="*/ 0 h 18288"/>
              <a:gd name="connsiteX12" fmla="*/ 7609637 w 10424160"/>
              <a:gd name="connsiteY12" fmla="*/ 0 h 18288"/>
              <a:gd name="connsiteX13" fmla="*/ 8513064 w 10424160"/>
              <a:gd name="connsiteY13" fmla="*/ 0 h 18288"/>
              <a:gd name="connsiteX14" fmla="*/ 9103766 w 10424160"/>
              <a:gd name="connsiteY14" fmla="*/ 0 h 18288"/>
              <a:gd name="connsiteX15" fmla="*/ 9694469 w 10424160"/>
              <a:gd name="connsiteY15" fmla="*/ 0 h 18288"/>
              <a:gd name="connsiteX16" fmla="*/ 10424160 w 10424160"/>
              <a:gd name="connsiteY16" fmla="*/ 0 h 18288"/>
              <a:gd name="connsiteX17" fmla="*/ 10424160 w 10424160"/>
              <a:gd name="connsiteY17" fmla="*/ 18288 h 18288"/>
              <a:gd name="connsiteX18" fmla="*/ 9729216 w 10424160"/>
              <a:gd name="connsiteY18" fmla="*/ 18288 h 18288"/>
              <a:gd name="connsiteX19" fmla="*/ 8930030 w 10424160"/>
              <a:gd name="connsiteY19" fmla="*/ 18288 h 18288"/>
              <a:gd name="connsiteX20" fmla="*/ 8130845 w 10424160"/>
              <a:gd name="connsiteY20" fmla="*/ 18288 h 18288"/>
              <a:gd name="connsiteX21" fmla="*/ 7644384 w 10424160"/>
              <a:gd name="connsiteY21" fmla="*/ 18288 h 18288"/>
              <a:gd name="connsiteX22" fmla="*/ 6740957 w 10424160"/>
              <a:gd name="connsiteY22" fmla="*/ 18288 h 18288"/>
              <a:gd name="connsiteX23" fmla="*/ 6046013 w 10424160"/>
              <a:gd name="connsiteY23" fmla="*/ 18288 h 18288"/>
              <a:gd name="connsiteX24" fmla="*/ 5663794 w 10424160"/>
              <a:gd name="connsiteY24" fmla="*/ 18288 h 18288"/>
              <a:gd name="connsiteX25" fmla="*/ 4968850 w 10424160"/>
              <a:gd name="connsiteY25" fmla="*/ 18288 h 18288"/>
              <a:gd name="connsiteX26" fmla="*/ 4378147 w 10424160"/>
              <a:gd name="connsiteY26" fmla="*/ 18288 h 18288"/>
              <a:gd name="connsiteX27" fmla="*/ 3787445 w 10424160"/>
              <a:gd name="connsiteY27" fmla="*/ 18288 h 18288"/>
              <a:gd name="connsiteX28" fmla="*/ 3196742 w 10424160"/>
              <a:gd name="connsiteY28" fmla="*/ 18288 h 18288"/>
              <a:gd name="connsiteX29" fmla="*/ 2606040 w 10424160"/>
              <a:gd name="connsiteY29" fmla="*/ 18288 h 18288"/>
              <a:gd name="connsiteX30" fmla="*/ 1806854 w 10424160"/>
              <a:gd name="connsiteY30" fmla="*/ 18288 h 18288"/>
              <a:gd name="connsiteX31" fmla="*/ 1111910 w 10424160"/>
              <a:gd name="connsiteY31" fmla="*/ 18288 h 18288"/>
              <a:gd name="connsiteX32" fmla="*/ 729691 w 10424160"/>
              <a:gd name="connsiteY32" fmla="*/ 18288 h 18288"/>
              <a:gd name="connsiteX33" fmla="*/ 0 w 10424160"/>
              <a:gd name="connsiteY33" fmla="*/ 18288 h 18288"/>
              <a:gd name="connsiteX34" fmla="*/ 0 w 10424160"/>
              <a:gd name="connsiteY3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E4B39C1F-C469-2F4A-FDEA-D10CCED873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37533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632944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939081A7377414B833FED0848C3925E" ma:contentTypeVersion="14" ma:contentTypeDescription="Crie um novo documento." ma:contentTypeScope="" ma:versionID="b8dd89cc178434e9d939b7ffb4d05630">
  <xsd:schema xmlns:xsd="http://www.w3.org/2001/XMLSchema" xmlns:xs="http://www.w3.org/2001/XMLSchema" xmlns:p="http://schemas.microsoft.com/office/2006/metadata/properties" xmlns:ns3="8159ff8e-dc45-4011-84fa-b683cbc8daf9" xmlns:ns4="0f26e51f-954c-4fb3-ac6a-e2721cc4c082" targetNamespace="http://schemas.microsoft.com/office/2006/metadata/properties" ma:root="true" ma:fieldsID="dab9b213b8b53cadfe20a3209ed371bc" ns3:_="" ns4:_="">
    <xsd:import namespace="8159ff8e-dc45-4011-84fa-b683cbc8daf9"/>
    <xsd:import namespace="0f26e51f-954c-4fb3-ac6a-e2721cc4c082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SearchProperties" minOccurs="0"/>
                <xsd:element ref="ns4:MediaServiceObjectDetectorVersions" minOccurs="0"/>
                <xsd:element ref="ns4:MediaServiceDateTaken" minOccurs="0"/>
                <xsd:element ref="ns4:MediaServiceSystemTags" minOccurs="0"/>
                <xsd:element ref="ns4:MediaServiceGenerationTime" minOccurs="0"/>
                <xsd:element ref="ns4:MediaServiceEventHashCode" minOccurs="0"/>
                <xsd:element ref="ns4:MediaLengthInSeconds" minOccurs="0"/>
                <xsd:element ref="ns4:MediaServiceOCR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59ff8e-dc45-4011-84fa-b683cbc8daf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de Dica de Compartilhamento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26e51f-954c-4fb3-ac6a-e2721cc4c0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0DC9FE3-43B9-4AFC-8904-98B49964B9F1}">
  <ds:schemaRefs>
    <ds:schemaRef ds:uri="http://purl.org/dc/elements/1.1/"/>
    <ds:schemaRef ds:uri="http://purl.org/dc/terms/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0f26e51f-954c-4fb3-ac6a-e2721cc4c082"/>
    <ds:schemaRef ds:uri="8159ff8e-dc45-4011-84fa-b683cbc8daf9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B2466E79-06E3-4E89-9324-14F83A76020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59ff8e-dc45-4011-84fa-b683cbc8daf9"/>
    <ds:schemaRef ds:uri="0f26e51f-954c-4fb3-ac6a-e2721cc4c08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54B01FA-C5A0-49F3-9516-A47830F0502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2158</TotalTime>
  <Words>1057</Words>
  <Application>Microsoft Office PowerPoint</Application>
  <PresentationFormat>Widescreen</PresentationFormat>
  <Paragraphs>113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11</vt:i4>
      </vt:variant>
    </vt:vector>
  </HeadingPairs>
  <TitlesOfParts>
    <vt:vector size="20" baseType="lpstr">
      <vt:lpstr>Aharoni</vt:lpstr>
      <vt:lpstr>Aptos</vt:lpstr>
      <vt:lpstr>Aptos Display</vt:lpstr>
      <vt:lpstr>Arial</vt:lpstr>
      <vt:lpstr>Calibri</vt:lpstr>
      <vt:lpstr>Calibri Light</vt:lpstr>
      <vt:lpstr>Noto Sans</vt:lpstr>
      <vt:lpstr>Tema do Office</vt:lpstr>
      <vt:lpstr>1_Tema do Office</vt:lpstr>
      <vt:lpstr>Mapeamento Comunitário, Escuta e Observação Prof. Luiz Romão</vt:lpstr>
      <vt:lpstr>O que é comunidade?</vt:lpstr>
      <vt:lpstr>Escuta ativa e ética no contato com a comunidade</vt:lpstr>
      <vt:lpstr>Mapeamento comunitário</vt:lpstr>
      <vt:lpstr>O papel do extensionista</vt:lpstr>
      <vt:lpstr>Princípios da atuação em campo</vt:lpstr>
      <vt:lpstr>Atividades da Disciplina</vt:lpstr>
      <vt:lpstr>Cronograma Turma ES C </vt:lpstr>
      <vt:lpstr>Lista de Organizações </vt:lpstr>
      <vt:lpstr>Apresentação do PowerPoint</vt:lpstr>
      <vt:lpstr>Contato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LUIZ MELO ROMAO</dc:creator>
  <cp:lastModifiedBy>LUIZ MELO ROMAO</cp:lastModifiedBy>
  <cp:revision>9</cp:revision>
  <dcterms:created xsi:type="dcterms:W3CDTF">2025-07-28T19:24:22Z</dcterms:created>
  <dcterms:modified xsi:type="dcterms:W3CDTF">2025-08-14T21:58:32Z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0x0101005939081A7377414B833FED0848C3925E</vt:lpwstr>
  </property>
</Properties>
</file>